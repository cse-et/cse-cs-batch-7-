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7"/>
  </p:notesMasterIdLst>
  <p:handoutMasterIdLst>
    <p:handoutMasterId r:id="rId38"/>
  </p:handoutMasterIdLst>
  <p:sldIdLst>
    <p:sldId id="258" r:id="rId2"/>
    <p:sldId id="260" r:id="rId3"/>
    <p:sldId id="262" r:id="rId4"/>
    <p:sldId id="279" r:id="rId5"/>
    <p:sldId id="280" r:id="rId6"/>
    <p:sldId id="281" r:id="rId7"/>
    <p:sldId id="282" r:id="rId8"/>
    <p:sldId id="263" r:id="rId9"/>
    <p:sldId id="265" r:id="rId10"/>
    <p:sldId id="288" r:id="rId11"/>
    <p:sldId id="309" r:id="rId12"/>
    <p:sldId id="270" r:id="rId13"/>
    <p:sldId id="266" r:id="rId14"/>
    <p:sldId id="307" r:id="rId15"/>
    <p:sldId id="269" r:id="rId16"/>
    <p:sldId id="295" r:id="rId17"/>
    <p:sldId id="296" r:id="rId18"/>
    <p:sldId id="297" r:id="rId19"/>
    <p:sldId id="298" r:id="rId20"/>
    <p:sldId id="314" r:id="rId21"/>
    <p:sldId id="271" r:id="rId22"/>
    <p:sldId id="300" r:id="rId23"/>
    <p:sldId id="315" r:id="rId24"/>
    <p:sldId id="301" r:id="rId25"/>
    <p:sldId id="316" r:id="rId26"/>
    <p:sldId id="302" r:id="rId27"/>
    <p:sldId id="312" r:id="rId28"/>
    <p:sldId id="289" r:id="rId29"/>
    <p:sldId id="311" r:id="rId30"/>
    <p:sldId id="273" r:id="rId31"/>
    <p:sldId id="278" r:id="rId32"/>
    <p:sldId id="293" r:id="rId33"/>
    <p:sldId id="313" r:id="rId34"/>
    <p:sldId id="275" r:id="rId35"/>
    <p:sldId id="277"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651" autoAdjust="0"/>
    <p:restoredTop sz="94660"/>
  </p:normalViewPr>
  <p:slideViewPr>
    <p:cSldViewPr snapToGrid="0">
      <p:cViewPr varScale="1">
        <p:scale>
          <a:sx n="82" d="100"/>
          <a:sy n="82" d="100"/>
        </p:scale>
        <p:origin x="874" y="72"/>
      </p:cViewPr>
      <p:guideLst/>
    </p:cSldViewPr>
  </p:slideViewPr>
  <p:notesTextViewPr>
    <p:cViewPr>
      <p:scale>
        <a:sx n="1" d="1"/>
        <a:sy n="1" d="1"/>
      </p:scale>
      <p:origin x="0" y="0"/>
    </p:cViewPr>
  </p:notesTextViewPr>
  <p:notesViewPr>
    <p:cSldViewPr snapToGrid="0">
      <p:cViewPr varScale="1">
        <p:scale>
          <a:sx n="57" d="100"/>
          <a:sy n="57" d="100"/>
        </p:scale>
        <p:origin x="2832"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9199655-05E8-4463-9482-2D23FD405AF3}" type="datetimeFigureOut">
              <a:rPr lang="en-IN" smtClean="0"/>
              <a:t>10-04-2026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7C9CC48-2212-46F0-B96C-6F8104E82434}" type="slidenum">
              <a:rPr lang="en-IN" smtClean="0"/>
              <a:t>‹#›</a:t>
            </a:fld>
            <a:endParaRPr lang="en-IN"/>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3851868"/>
          </a:xfrm>
          <a:prstGeom prst="rect">
            <a:avLst/>
          </a:prstGeom>
        </p:spPr>
      </p:pic>
    </p:spTree>
    <p:extLst>
      <p:ext uri="{BB962C8B-B14F-4D97-AF65-F5344CB8AC3E}">
        <p14:creationId xmlns:p14="http://schemas.microsoft.com/office/powerpoint/2010/main" val="12714582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DE0E28-087F-4BBF-B8BC-055CB0BBD464}" type="datetimeFigureOut">
              <a:rPr lang="en-IN" smtClean="0"/>
              <a:t>10-04-2026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5E3DF0-35B4-40E5-AC91-1A2000F81275}" type="slidenum">
              <a:rPr lang="en-IN" smtClean="0"/>
              <a:t>‹#›</a:t>
            </a:fld>
            <a:endParaRPr lang="en-IN"/>
          </a:p>
        </p:txBody>
      </p:sp>
    </p:spTree>
    <p:extLst>
      <p:ext uri="{BB962C8B-B14F-4D97-AF65-F5344CB8AC3E}">
        <p14:creationId xmlns:p14="http://schemas.microsoft.com/office/powerpoint/2010/main" val="2605513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65E3DF0-35B4-40E5-AC91-1A2000F81275}" type="slidenum">
              <a:rPr lang="en-IN" smtClean="0"/>
              <a:t>1</a:t>
            </a:fld>
            <a:endParaRPr lang="en-IN"/>
          </a:p>
        </p:txBody>
      </p:sp>
    </p:spTree>
    <p:extLst>
      <p:ext uri="{BB962C8B-B14F-4D97-AF65-F5344CB8AC3E}">
        <p14:creationId xmlns:p14="http://schemas.microsoft.com/office/powerpoint/2010/main" val="16973837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67DA90F6-F4F3-4DFE-8E0D-2CE2FF55F25A}" type="datetime1">
              <a:rPr lang="en-IN" smtClean="0"/>
              <a:t>10-04-2026</a:t>
            </a:fld>
            <a:endParaRPr lang="en-IN"/>
          </a:p>
        </p:txBody>
      </p:sp>
      <p:sp>
        <p:nvSpPr>
          <p:cNvPr id="5" name="Footer Placeholder 4"/>
          <p:cNvSpPr>
            <a:spLocks noGrp="1"/>
          </p:cNvSpPr>
          <p:nvPr>
            <p:ph type="ftr" sz="quarter" idx="11"/>
          </p:nvPr>
        </p:nvSpPr>
        <p:spPr/>
        <p:txBody>
          <a:bodyPr/>
          <a:lstStyle/>
          <a:p>
            <a:r>
              <a:rPr lang="en-US" dirty="0"/>
              <a:t>Batch No. 12  Department of Cyber Security</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4231652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9E2DEEC-9598-4FB8-B1E5-5438A62C9F63}" type="datetime1">
              <a:rPr lang="en-IN" smtClean="0"/>
              <a:t>10-04-2026</a:t>
            </a:fld>
            <a:endParaRPr lang="en-IN"/>
          </a:p>
        </p:txBody>
      </p:sp>
      <p:sp>
        <p:nvSpPr>
          <p:cNvPr id="5" name="Footer Placeholder 4"/>
          <p:cNvSpPr>
            <a:spLocks noGrp="1"/>
          </p:cNvSpPr>
          <p:nvPr>
            <p:ph type="ftr" sz="quarter" idx="11"/>
          </p:nvPr>
        </p:nvSpPr>
        <p:spPr/>
        <p:txBody>
          <a:bodyPr/>
          <a:lstStyle/>
          <a:p>
            <a:r>
              <a:rPr lang="en-US" dirty="0"/>
              <a:t>Batch No. 12  Department of Cyber Security</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7802064" cy="4382112"/>
          </a:xfrm>
          <a:prstGeom prst="rect">
            <a:avLst/>
          </a:prstGeom>
        </p:spPr>
      </p:pic>
    </p:spTree>
    <p:extLst>
      <p:ext uri="{BB962C8B-B14F-4D97-AF65-F5344CB8AC3E}">
        <p14:creationId xmlns:p14="http://schemas.microsoft.com/office/powerpoint/2010/main" val="2262376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A24B43-F4B6-4046-AC03-6D131689F46F}" type="datetime1">
              <a:rPr lang="en-IN" smtClean="0"/>
              <a:t>10-04-2026</a:t>
            </a:fld>
            <a:endParaRPr lang="en-IN"/>
          </a:p>
        </p:txBody>
      </p:sp>
      <p:sp>
        <p:nvSpPr>
          <p:cNvPr id="5" name="Footer Placeholder 4"/>
          <p:cNvSpPr>
            <a:spLocks noGrp="1"/>
          </p:cNvSpPr>
          <p:nvPr>
            <p:ph type="ftr" sz="quarter" idx="11"/>
          </p:nvPr>
        </p:nvSpPr>
        <p:spPr/>
        <p:txBody>
          <a:bodyPr/>
          <a:lstStyle/>
          <a:p>
            <a:r>
              <a:rPr lang="en-US" dirty="0"/>
              <a:t>Batch No. 12  Department of Cyber Security</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21327912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74267EA1-420B-4750-87D7-FA4CA62722A8}" type="datetime1">
              <a:rPr lang="en-IN" smtClean="0"/>
              <a:t>10-04-2026</a:t>
            </a:fld>
            <a:endParaRPr lang="en-IN"/>
          </a:p>
        </p:txBody>
      </p:sp>
      <p:sp>
        <p:nvSpPr>
          <p:cNvPr id="6" name="Footer Placeholder 5"/>
          <p:cNvSpPr>
            <a:spLocks noGrp="1"/>
          </p:cNvSpPr>
          <p:nvPr>
            <p:ph type="ftr" sz="quarter" idx="11"/>
          </p:nvPr>
        </p:nvSpPr>
        <p:spPr/>
        <p:txBody>
          <a:bodyPr/>
          <a:lstStyle/>
          <a:p>
            <a:r>
              <a:rPr lang="en-US" dirty="0"/>
              <a:t>Batch No. 12  Department of Cyber Security</a:t>
            </a:r>
            <a:endParaRPr lang="en-IN" dirty="0"/>
          </a:p>
        </p:txBody>
      </p:sp>
      <p:sp>
        <p:nvSpPr>
          <p:cNvPr id="7" name="Slide Number Placeholder 6"/>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2402758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9D8C7E8B-6855-427B-9874-B4C25671ED94}" type="datetime1">
              <a:rPr lang="en-IN" smtClean="0"/>
              <a:t>10-04-2026</a:t>
            </a:fld>
            <a:endParaRPr lang="en-IN"/>
          </a:p>
        </p:txBody>
      </p:sp>
      <p:sp>
        <p:nvSpPr>
          <p:cNvPr id="8" name="Footer Placeholder 7"/>
          <p:cNvSpPr>
            <a:spLocks noGrp="1"/>
          </p:cNvSpPr>
          <p:nvPr>
            <p:ph type="ftr" sz="quarter" idx="11"/>
          </p:nvPr>
        </p:nvSpPr>
        <p:spPr/>
        <p:txBody>
          <a:bodyPr/>
          <a:lstStyle/>
          <a:p>
            <a:r>
              <a:rPr lang="en-US" dirty="0"/>
              <a:t>Batch No. 12  Department of Cyber Security</a:t>
            </a:r>
            <a:endParaRPr lang="en-IN" dirty="0"/>
          </a:p>
        </p:txBody>
      </p:sp>
      <p:sp>
        <p:nvSpPr>
          <p:cNvPr id="9" name="Slide Number Placeholder 8"/>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3859279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687E83AD-31B9-450E-9B40-937230CE5654}" type="datetime1">
              <a:rPr lang="en-IN" smtClean="0"/>
              <a:t>10-04-2026</a:t>
            </a:fld>
            <a:endParaRPr lang="en-IN"/>
          </a:p>
        </p:txBody>
      </p:sp>
      <p:sp>
        <p:nvSpPr>
          <p:cNvPr id="4" name="Footer Placeholder 3"/>
          <p:cNvSpPr>
            <a:spLocks noGrp="1"/>
          </p:cNvSpPr>
          <p:nvPr>
            <p:ph type="ftr" sz="quarter" idx="11"/>
          </p:nvPr>
        </p:nvSpPr>
        <p:spPr/>
        <p:txBody>
          <a:bodyPr/>
          <a:lstStyle/>
          <a:p>
            <a:r>
              <a:rPr lang="en-US" dirty="0"/>
              <a:t>Batch No. 12  Department of Cyber Security</a:t>
            </a:r>
            <a:endParaRPr lang="en-IN" dirty="0"/>
          </a:p>
        </p:txBody>
      </p:sp>
      <p:sp>
        <p:nvSpPr>
          <p:cNvPr id="5" name="Slide Number Placeholder 4"/>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2826415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7064C2-CCA2-4371-882E-862164888002}" type="datetime1">
              <a:rPr lang="en-IN" smtClean="0"/>
              <a:t>10-04-2026</a:t>
            </a:fld>
            <a:endParaRPr lang="en-IN"/>
          </a:p>
        </p:txBody>
      </p:sp>
      <p:sp>
        <p:nvSpPr>
          <p:cNvPr id="3" name="Footer Placeholder 2"/>
          <p:cNvSpPr>
            <a:spLocks noGrp="1"/>
          </p:cNvSpPr>
          <p:nvPr>
            <p:ph type="ftr" sz="quarter" idx="11"/>
          </p:nvPr>
        </p:nvSpPr>
        <p:spPr/>
        <p:txBody>
          <a:bodyPr/>
          <a:lstStyle/>
          <a:p>
            <a:r>
              <a:rPr lang="en-US" dirty="0"/>
              <a:t>Batch No. 12  Department of Cyber Security</a:t>
            </a:r>
            <a:endParaRPr lang="en-IN" dirty="0"/>
          </a:p>
        </p:txBody>
      </p:sp>
      <p:sp>
        <p:nvSpPr>
          <p:cNvPr id="4" name="Slide Number Placeholder 3"/>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459629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447329E-3D05-4C45-96AC-3BA394636271}" type="datetime1">
              <a:rPr lang="en-IN" smtClean="0"/>
              <a:t>10-04-2026</a:t>
            </a:fld>
            <a:endParaRPr lang="en-IN"/>
          </a:p>
        </p:txBody>
      </p:sp>
      <p:sp>
        <p:nvSpPr>
          <p:cNvPr id="6" name="Footer Placeholder 5"/>
          <p:cNvSpPr>
            <a:spLocks noGrp="1"/>
          </p:cNvSpPr>
          <p:nvPr>
            <p:ph type="ftr" sz="quarter" idx="11"/>
          </p:nvPr>
        </p:nvSpPr>
        <p:spPr/>
        <p:txBody>
          <a:bodyPr/>
          <a:lstStyle/>
          <a:p>
            <a:r>
              <a:rPr lang="en-US" dirty="0"/>
              <a:t>Batch No. 12  Department of Cyber Security</a:t>
            </a:r>
            <a:endParaRPr lang="en-IN" dirty="0"/>
          </a:p>
        </p:txBody>
      </p:sp>
      <p:sp>
        <p:nvSpPr>
          <p:cNvPr id="7" name="Slide Number Placeholder 6"/>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681320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33A5A08-CF66-4701-94F0-784A5835C786}" type="datetime1">
              <a:rPr lang="en-IN" smtClean="0"/>
              <a:t>10-04-2026</a:t>
            </a:fld>
            <a:endParaRPr lang="en-IN"/>
          </a:p>
        </p:txBody>
      </p:sp>
      <p:sp>
        <p:nvSpPr>
          <p:cNvPr id="6" name="Footer Placeholder 5"/>
          <p:cNvSpPr>
            <a:spLocks noGrp="1"/>
          </p:cNvSpPr>
          <p:nvPr>
            <p:ph type="ftr" sz="quarter" idx="11"/>
          </p:nvPr>
        </p:nvSpPr>
        <p:spPr/>
        <p:txBody>
          <a:bodyPr/>
          <a:lstStyle/>
          <a:p>
            <a:r>
              <a:rPr lang="en-US" dirty="0"/>
              <a:t>Batch No. 12  Department of Cyber Security</a:t>
            </a:r>
            <a:endParaRPr lang="en-IN" dirty="0"/>
          </a:p>
        </p:txBody>
      </p:sp>
      <p:sp>
        <p:nvSpPr>
          <p:cNvPr id="7" name="Slide Number Placeholder 6"/>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36022788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D6FC742-B75A-4153-9F24-5E80932A0D80}" type="datetime1">
              <a:rPr lang="en-IN" smtClean="0"/>
              <a:t>10-04-2026</a:t>
            </a:fld>
            <a:endParaRPr lang="en-IN"/>
          </a:p>
        </p:txBody>
      </p:sp>
      <p:sp>
        <p:nvSpPr>
          <p:cNvPr id="5" name="Footer Placeholder 4"/>
          <p:cNvSpPr>
            <a:spLocks noGrp="1"/>
          </p:cNvSpPr>
          <p:nvPr>
            <p:ph type="ftr" sz="quarter" idx="11"/>
          </p:nvPr>
        </p:nvSpPr>
        <p:spPr/>
        <p:txBody>
          <a:bodyPr/>
          <a:lstStyle/>
          <a:p>
            <a:r>
              <a:rPr lang="en-US" dirty="0"/>
              <a:t>Batch No. 12  Department of Cyber Security</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33943571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C4C3765-55E4-4DD2-A79A-D50C046A9F88}" type="datetime1">
              <a:rPr lang="en-IN" smtClean="0"/>
              <a:t>10-04-2026</a:t>
            </a:fld>
            <a:endParaRPr lang="en-IN"/>
          </a:p>
        </p:txBody>
      </p:sp>
      <p:sp>
        <p:nvSpPr>
          <p:cNvPr id="5" name="Footer Placeholder 4"/>
          <p:cNvSpPr>
            <a:spLocks noGrp="1"/>
          </p:cNvSpPr>
          <p:nvPr>
            <p:ph type="ftr" sz="quarter" idx="11"/>
          </p:nvPr>
        </p:nvSpPr>
        <p:spPr/>
        <p:txBody>
          <a:bodyPr/>
          <a:lstStyle/>
          <a:p>
            <a:r>
              <a:rPr lang="en-US" dirty="0"/>
              <a:t>Batch No. 12  Department of Cyber Security</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18392069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6C2660-D282-4FFA-B925-CB3D65A43740}" type="datetime1">
              <a:rPr lang="en-IN" smtClean="0"/>
              <a:t>10-04-2026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Batch No. 12  Department of Cyber Security</a:t>
            </a:r>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DCBD69-296B-4D7C-AF62-9B588FC78772}" type="slidenum">
              <a:rPr lang="en-IN" smtClean="0"/>
              <a:t>‹#›</a:t>
            </a:fld>
            <a:endParaRPr lang="en-IN"/>
          </a:p>
        </p:txBody>
      </p:sp>
    </p:spTree>
    <p:extLst>
      <p:ext uri="{BB962C8B-B14F-4D97-AF65-F5344CB8AC3E}">
        <p14:creationId xmlns:p14="http://schemas.microsoft.com/office/powerpoint/2010/main" val="41065171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7"/>
          <p:cNvSpPr txBox="1">
            <a:spLocks/>
          </p:cNvSpPr>
          <p:nvPr/>
        </p:nvSpPr>
        <p:spPr>
          <a:xfrm>
            <a:off x="1754154" y="705471"/>
            <a:ext cx="8915400" cy="375925"/>
          </a:xfrm>
          <a:prstGeom prst="roundRect">
            <a:avLst>
              <a:gd name="adj" fmla="val 16667"/>
            </a:avLst>
          </a:prstGeom>
          <a:ln w="25400" cap="flat" cmpd="sng" algn="ctr">
            <a:solidFill>
              <a:schemeClr val="bg1"/>
            </a:solidFill>
            <a:prstDash val="solid"/>
          </a:ln>
        </p:spPr>
        <p:style>
          <a:lnRef idx="2">
            <a:schemeClr val="accent1"/>
          </a:lnRef>
          <a:fillRef idx="1">
            <a:schemeClr val="lt1"/>
          </a:fillRef>
          <a:effectRef idx="0">
            <a:schemeClr val="accent1"/>
          </a:effectRef>
          <a:fontRef idx="minor">
            <a:schemeClr val="dk1"/>
          </a:fontRef>
        </p:style>
        <p:txBody>
          <a:bodyPr>
            <a:noAutofit/>
          </a:bodyPr>
          <a:lstStyle/>
          <a:p>
            <a:pPr lvl="0" algn="ctr">
              <a:spcBef>
                <a:spcPct val="20000"/>
              </a:spcBef>
              <a:defRPr/>
            </a:pPr>
            <a:r>
              <a:rPr lang="en-US" b="1" dirty="0">
                <a:latin typeface="Times New Roman" panose="02020603050405020304" pitchFamily="18" charset="0"/>
                <a:cs typeface="Times New Roman" pitchFamily="18" charset="0"/>
              </a:rPr>
              <a:t>Department of Cyber Security</a:t>
            </a:r>
          </a:p>
          <a:p>
            <a:pPr lvl="0" algn="ctr">
              <a:spcBef>
                <a:spcPct val="20000"/>
              </a:spcBef>
              <a:defRPr/>
            </a:pPr>
            <a:r>
              <a:rPr lang="en-IN" dirty="0">
                <a:solidFill>
                  <a:srgbClr val="FF0000"/>
                </a:solidFill>
                <a:latin typeface="Arial Rounded MT Bold" panose="020F0704030504030204" pitchFamily="34" charset="0"/>
              </a:rPr>
              <a:t>Dual Layer Steganography with LSB </a:t>
            </a:r>
            <a:br>
              <a:rPr lang="en-IN" dirty="0">
                <a:solidFill>
                  <a:srgbClr val="FF0000"/>
                </a:solidFill>
                <a:latin typeface="Arial Rounded MT Bold" panose="020F0704030504030204" pitchFamily="34" charset="0"/>
              </a:rPr>
            </a:br>
            <a:r>
              <a:rPr lang="en-IN" dirty="0">
                <a:solidFill>
                  <a:srgbClr val="FF0000"/>
                </a:solidFill>
                <a:latin typeface="Arial Rounded MT Bold" panose="020F0704030504030204" pitchFamily="34" charset="0"/>
              </a:rPr>
              <a:t>and AES Algorithms for Enhanced Security and Secure</a:t>
            </a:r>
            <a:endParaRPr lang="en-US" sz="2400" b="1" dirty="0">
              <a:solidFill>
                <a:srgbClr val="FF0000"/>
              </a:solidFill>
              <a:effectLst>
                <a:outerShdw blurRad="38100" dist="38100" dir="2700000" algn="tl">
                  <a:srgbClr val="000000">
                    <a:alpha val="43137"/>
                  </a:srgbClr>
                </a:outerShdw>
              </a:effectLst>
              <a:latin typeface="Arial Rounded MT Bold" panose="020F0704030504030204" pitchFamily="34" charset="0"/>
              <a:cs typeface="Times New Roman" pitchFamily="18" charset="0"/>
            </a:endParaRPr>
          </a:p>
        </p:txBody>
      </p:sp>
      <p:sp>
        <p:nvSpPr>
          <p:cNvPr id="16" name="Subtitle 2"/>
          <p:cNvSpPr>
            <a:spLocks noGrp="1"/>
          </p:cNvSpPr>
          <p:nvPr>
            <p:ph type="subTitle" idx="1"/>
          </p:nvPr>
        </p:nvSpPr>
        <p:spPr>
          <a:xfrm>
            <a:off x="1881450" y="4811470"/>
            <a:ext cx="9144000" cy="1859917"/>
          </a:xfrm>
        </p:spPr>
        <p:txBody>
          <a:bodyPr>
            <a:normAutofit/>
          </a:bodyPr>
          <a:lstStyle/>
          <a:p>
            <a:pPr eaLnBrk="1" hangingPunct="1"/>
            <a:r>
              <a:rPr lang="en-US" altLang="en-US" sz="1600" dirty="0">
                <a:solidFill>
                  <a:schemeClr val="tx1"/>
                </a:solidFill>
                <a:latin typeface="Times New Roman" panose="02020603050405020304" pitchFamily="18" charset="0"/>
                <a:cs typeface="Times New Roman" pitchFamily="18" charset="0"/>
              </a:rPr>
              <a:t>PRESENTED BY</a:t>
            </a:r>
          </a:p>
          <a:p>
            <a:pPr latinLnBrk="1"/>
            <a:r>
              <a:rPr lang="en-US" sz="2000" dirty="0">
                <a:latin typeface="Times New Roman" panose="02020603050405020304" pitchFamily="18" charset="0"/>
                <a:cs typeface="Times New Roman" panose="02020603050405020304" pitchFamily="18" charset="0"/>
              </a:rPr>
              <a:t>JAMPANA AAMUKTHA	  (22471A4618)</a:t>
            </a:r>
            <a:endParaRPr lang="en-IN" sz="2000" dirty="0">
              <a:latin typeface="Times New Roman" panose="02020603050405020304" pitchFamily="18" charset="0"/>
              <a:cs typeface="Times New Roman" panose="02020603050405020304" pitchFamily="18" charset="0"/>
            </a:endParaRPr>
          </a:p>
          <a:p>
            <a:pPr algn="l" latinLnBrk="1"/>
            <a:r>
              <a:rPr lang="en-US" sz="2000" dirty="0">
                <a:latin typeface="Times New Roman" panose="02020603050405020304" pitchFamily="18" charset="0"/>
                <a:cs typeface="Times New Roman" panose="02020603050405020304" pitchFamily="18" charset="0"/>
              </a:rPr>
              <a:t>                           ASUKOLLA SIVA NAGARAJU (22471A4623)</a:t>
            </a:r>
          </a:p>
          <a:p>
            <a:pPr algn="l" latinLnBrk="1"/>
            <a:r>
              <a:rPr lang="en-US" sz="2000" dirty="0">
                <a:latin typeface="Times New Roman" panose="02020603050405020304" pitchFamily="18" charset="0"/>
                <a:cs typeface="Times New Roman" panose="02020603050405020304" pitchFamily="18" charset="0"/>
              </a:rPr>
              <a:t>                                    KOLAKALURI INAK        (22471A4625)</a:t>
            </a:r>
          </a:p>
          <a:p>
            <a:pPr algn="l" latinLnBrk="1"/>
            <a:endParaRPr lang="en-IN" sz="2000" dirty="0">
              <a:latin typeface="Times New Roman" panose="02020603050405020304" pitchFamily="18" charset="0"/>
              <a:cs typeface="Times New Roman" panose="02020603050405020304" pitchFamily="18" charset="0"/>
            </a:endParaRPr>
          </a:p>
        </p:txBody>
      </p:sp>
      <p:sp>
        <p:nvSpPr>
          <p:cNvPr id="17" name="Subtitle 2"/>
          <p:cNvSpPr txBox="1">
            <a:spLocks/>
          </p:cNvSpPr>
          <p:nvPr/>
        </p:nvSpPr>
        <p:spPr bwMode="auto">
          <a:xfrm>
            <a:off x="2782854" y="2109617"/>
            <a:ext cx="6858000" cy="2288429"/>
          </a:xfrm>
          <a:prstGeom prst="rect">
            <a:avLst/>
          </a:prstGeom>
          <a:noFill/>
          <a:ln w="9525">
            <a:noFill/>
            <a:miter lim="800000"/>
            <a:headEnd/>
            <a:tailEnd/>
          </a:ln>
        </p:spPr>
        <p:txBody>
          <a:bodyPr/>
          <a:lstStyle/>
          <a:p>
            <a:pPr algn="ctr" eaLnBrk="1" hangingPunct="1">
              <a:spcBef>
                <a:spcPct val="20000"/>
              </a:spcBef>
              <a:buFont typeface="Wingdings" pitchFamily="2" charset="2"/>
              <a:buNone/>
            </a:pPr>
            <a:r>
              <a:rPr lang="en-US" altLang="en-US" dirty="0">
                <a:solidFill>
                  <a:srgbClr val="006600"/>
                </a:solidFill>
                <a:latin typeface="Times New Roman" panose="02020603050405020304" pitchFamily="18" charset="0"/>
                <a:cs typeface="Times New Roman" pitchFamily="18" charset="0"/>
              </a:rPr>
              <a:t>Under the Guidance of,</a:t>
            </a:r>
            <a:endParaRPr lang="en-US" altLang="en-US" b="1" dirty="0">
              <a:solidFill>
                <a:srgbClr val="006600"/>
              </a:solidFill>
              <a:latin typeface="Times New Roman" pitchFamily="18" charset="0"/>
              <a:cs typeface="Times New Roman" pitchFamily="18" charset="0"/>
            </a:endParaRPr>
          </a:p>
          <a:p>
            <a:pPr algn="ctr" eaLnBrk="1" hangingPunct="1">
              <a:spcBef>
                <a:spcPct val="20000"/>
              </a:spcBef>
              <a:buFont typeface="Wingdings" pitchFamily="2" charset="2"/>
              <a:buNone/>
            </a:pPr>
            <a:endParaRPr lang="en-US" altLang="en-US" sz="900" b="1" dirty="0">
              <a:solidFill>
                <a:schemeClr val="bg1"/>
              </a:solidFill>
              <a:latin typeface="Times New Roman" pitchFamily="18" charset="0"/>
              <a:cs typeface="Times New Roman" pitchFamily="18" charset="0"/>
            </a:endParaRPr>
          </a:p>
          <a:p>
            <a:pPr algn="ctr">
              <a:spcBef>
                <a:spcPct val="20000"/>
              </a:spcBef>
            </a:pPr>
            <a:r>
              <a:rPr lang="en-US" sz="3200" b="1" baseline="-25000" dirty="0">
                <a:latin typeface="Times New Roman" panose="02020603050405020304" pitchFamily="18" charset="0"/>
                <a:cs typeface="Times New Roman" panose="02020603050405020304" pitchFamily="18" charset="0"/>
              </a:rPr>
              <a:t>Mr. P. Srinivasa Rao </a:t>
            </a:r>
            <a:r>
              <a:rPr lang="en-US" sz="2000" b="1" baseline="-25000" dirty="0">
                <a:latin typeface="Times New Roman" panose="02020603050405020304" pitchFamily="18" charset="0"/>
                <a:cs typeface="Times New Roman" panose="02020603050405020304" pitchFamily="18" charset="0"/>
              </a:rPr>
              <a:t>M.Tech.</a:t>
            </a:r>
            <a:endParaRPr lang="en-US" altLang="en-US" sz="1400" dirty="0">
              <a:solidFill>
                <a:srgbClr val="898989"/>
              </a:solidFill>
              <a:latin typeface="Times New Roman" pitchFamily="18" charset="0"/>
              <a:cs typeface="Times New Roman" pitchFamily="18" charset="0"/>
            </a:endParaRPr>
          </a:p>
          <a:p>
            <a:pPr algn="ctr" eaLnBrk="1" hangingPunct="1">
              <a:spcBef>
                <a:spcPct val="20000"/>
              </a:spcBef>
              <a:buFont typeface="Wingdings" pitchFamily="2" charset="2"/>
              <a:buNone/>
            </a:pPr>
            <a:r>
              <a:rPr lang="en-US" altLang="en-US" sz="1600" dirty="0">
                <a:solidFill>
                  <a:schemeClr val="accent6">
                    <a:lumMod val="75000"/>
                  </a:schemeClr>
                </a:solidFill>
                <a:latin typeface="Times New Roman" pitchFamily="18" charset="0"/>
                <a:cs typeface="Times New Roman" pitchFamily="18" charset="0"/>
              </a:rPr>
              <a:t>Department of  Cyber Security,</a:t>
            </a:r>
          </a:p>
          <a:p>
            <a:pPr algn="ctr" eaLnBrk="1" hangingPunct="1">
              <a:spcBef>
                <a:spcPct val="20000"/>
              </a:spcBef>
              <a:buFont typeface="Wingdings" pitchFamily="2" charset="2"/>
              <a:buNone/>
            </a:pPr>
            <a:r>
              <a:rPr lang="en-US" altLang="en-US" sz="1600" dirty="0">
                <a:solidFill>
                  <a:schemeClr val="accent6">
                    <a:lumMod val="75000"/>
                  </a:schemeClr>
                </a:solidFill>
                <a:latin typeface="Times New Roman" pitchFamily="18" charset="0"/>
                <a:cs typeface="Times New Roman" pitchFamily="18" charset="0"/>
              </a:rPr>
              <a:t>Narasaraopeta Engineering College (Autonomous),</a:t>
            </a:r>
          </a:p>
          <a:p>
            <a:pPr algn="ctr" eaLnBrk="1" hangingPunct="1">
              <a:spcBef>
                <a:spcPct val="20000"/>
              </a:spcBef>
              <a:buFont typeface="Wingdings" pitchFamily="2" charset="2"/>
              <a:buNone/>
            </a:pPr>
            <a:r>
              <a:rPr lang="en-US" altLang="en-US" sz="1600" dirty="0">
                <a:solidFill>
                  <a:schemeClr val="accent6">
                    <a:lumMod val="75000"/>
                  </a:schemeClr>
                </a:solidFill>
                <a:latin typeface="Times New Roman" pitchFamily="18" charset="0"/>
                <a:cs typeface="Times New Roman" pitchFamily="18" charset="0"/>
              </a:rPr>
              <a:t>Narasaraopet- 522 601.</a:t>
            </a:r>
          </a:p>
        </p:txBody>
      </p:sp>
      <p:pic>
        <p:nvPicPr>
          <p:cNvPr id="9" name="Picture 8"/>
          <p:cNvPicPr>
            <a:picLocks noChangeAspect="1"/>
          </p:cNvPicPr>
          <p:nvPr/>
        </p:nvPicPr>
        <p:blipFill>
          <a:blip r:embed="rId3"/>
          <a:stretch>
            <a:fillRect/>
          </a:stretch>
        </p:blipFill>
        <p:spPr>
          <a:xfrm>
            <a:off x="0" y="90674"/>
            <a:ext cx="3762900" cy="579027"/>
          </a:xfrm>
          <a:prstGeom prst="rect">
            <a:avLst/>
          </a:prstGeom>
        </p:spPr>
      </p:pic>
    </p:spTree>
    <p:extLst>
      <p:ext uri="{BB962C8B-B14F-4D97-AF65-F5344CB8AC3E}">
        <p14:creationId xmlns:p14="http://schemas.microsoft.com/office/powerpoint/2010/main" val="17696910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OUTLINE</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274193"/>
            <a:ext cx="10515600" cy="4683829"/>
          </a:xfrm>
        </p:spPr>
        <p:txBody>
          <a:bodyPr>
            <a:normAutofit fontScale="77500" lnSpcReduction="20000"/>
          </a:bodyPr>
          <a:lstStyle/>
          <a:p>
            <a:pPr marL="514350" indent="-514350">
              <a:buFont typeface="+mj-lt"/>
              <a:buAutoNum type="arabicPeriod"/>
            </a:pPr>
            <a:r>
              <a:rPr lang="en-IN" dirty="0">
                <a:latin typeface="Times New Roman" panose="02020603050405020304" pitchFamily="18" charset="0"/>
                <a:cs typeface="Times New Roman" panose="02020603050405020304" pitchFamily="18" charset="0"/>
              </a:rPr>
              <a:t>Abstract</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Introduction </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Literature Survey</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Research Gaps</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Problem Statement</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Objectives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Block Diagram / Flow Diagram</a:t>
            </a:r>
            <a:endParaRPr lang="en-IN"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Methodology</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Implementation</a:t>
            </a:r>
            <a:endParaRPr lang="en-IN"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Results and Analysis</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Conclusion &amp; Future Scope</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References</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Question and Answers</a:t>
            </a: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5560F8FC-D785-4273-BEB4-7092A16CD290}" type="datetime1">
              <a:rPr lang="en-IN" smtClean="0">
                <a:latin typeface="Times New Roman" panose="02020603050405020304" pitchFamily="18" charset="0"/>
                <a:cs typeface="Times New Roman" panose="02020603050405020304" pitchFamily="18" charset="0"/>
              </a:rPr>
              <a:t>10-04-2026</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Batch No. 12  Department of Cyber Security</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2</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67526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009409" y="298140"/>
            <a:ext cx="10173182" cy="1128009"/>
          </a:xfrm>
        </p:spPr>
        <p:txBody>
          <a:bodyPr/>
          <a:lstStyle/>
          <a:p>
            <a:pPr algn="ctr"/>
            <a:r>
              <a:rPr lang="en-US" b="1" dirty="0">
                <a:latin typeface="Times New Roman" panose="02020603050405020304" pitchFamily="18" charset="0"/>
                <a:cs typeface="Times New Roman" panose="02020603050405020304" pitchFamily="18" charset="0"/>
              </a:rPr>
              <a:t>ABSTRACT</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793421" y="1258002"/>
            <a:ext cx="10663335" cy="4702491"/>
          </a:xfrm>
        </p:spPr>
        <p:txBody>
          <a:bodyPr>
            <a:normAutofit fontScale="62500" lnSpcReduction="20000"/>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A Dual Layer Steganography System, which combines AES encryption with image steganography techniques (LSB and DCT). The system first encrypts the message using AES-GCM and then hides the encrypted data inside an image, making the communication both secure and </a:t>
            </a:r>
            <a:r>
              <a:rPr lang="en-US" dirty="0" err="1">
                <a:latin typeface="Times New Roman" panose="02020603050405020304" pitchFamily="18" charset="0"/>
                <a:cs typeface="Times New Roman" panose="02020603050405020304" pitchFamily="18" charset="0"/>
              </a:rPr>
              <a:t>invisi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ble.This</a:t>
            </a:r>
            <a:r>
              <a:rPr lang="en-US" dirty="0">
                <a:latin typeface="Times New Roman" panose="02020603050405020304" pitchFamily="18" charset="0"/>
                <a:cs typeface="Times New Roman" panose="02020603050405020304" pitchFamily="18" charset="0"/>
              </a:rPr>
              <a:t> approach ensures confidentiality, integrity, and stealth, making it highly suitable for secure communication </a:t>
            </a:r>
            <a:r>
              <a:rPr lang="en-US" dirty="0" err="1">
                <a:latin typeface="Times New Roman" panose="02020603050405020304" pitchFamily="18" charset="0"/>
                <a:cs typeface="Times New Roman" panose="02020603050405020304" pitchFamily="18" charset="0"/>
              </a:rPr>
              <a:t>applications.The</a:t>
            </a:r>
            <a:r>
              <a:rPr lang="en-US" dirty="0">
                <a:latin typeface="Times New Roman" panose="02020603050405020304" pitchFamily="18" charset="0"/>
                <a:cs typeface="Times New Roman" panose="02020603050405020304" pitchFamily="18" charset="0"/>
              </a:rPr>
              <a:t> use of dual-layer security </a:t>
            </a:r>
            <a:r>
              <a:rPr lang="en-US" dirty="0" err="1">
                <a:latin typeface="Times New Roman" panose="02020603050405020304" pitchFamily="18" charset="0"/>
                <a:cs typeface="Times New Roman" panose="02020603050405020304" pitchFamily="18" charset="0"/>
              </a:rPr>
              <a:t>en</a:t>
            </a:r>
            <a:r>
              <a:rPr lang="en-US" dirty="0">
                <a:latin typeface="Times New Roman" panose="02020603050405020304" pitchFamily="18" charset="0"/>
                <a:cs typeface="Times New Roman" panose="02020603050405020304" pitchFamily="18" charset="0"/>
              </a:rPr>
              <a:t>- sures that even if the hidden data is detected, it remains protected due to encryption. Additionally, the system incorporates a SHA-256 based authentication mechanism to verify data integrity and detect any tampering attempts. The encrypted data is then embedded into a digital image using steganographic techniques such as Least Significant Bit (LSB) and Discrete Cosine Transform (DCT).This combination of encryption, authentication, and data hiding provides a robust and secure </a:t>
            </a:r>
            <a:r>
              <a:rPr lang="en-US" dirty="0" err="1">
                <a:latin typeface="Times New Roman" panose="02020603050405020304" pitchFamily="18" charset="0"/>
                <a:cs typeface="Times New Roman" panose="02020603050405020304" pitchFamily="18" charset="0"/>
              </a:rPr>
              <a:t>commu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nication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framework.Furthermore</a:t>
            </a:r>
            <a:r>
              <a:rPr lang="en-US" dirty="0">
                <a:latin typeface="Times New Roman" panose="02020603050405020304" pitchFamily="18" charset="0"/>
                <a:cs typeface="Times New Roman" panose="02020603050405020304" pitchFamily="18" charset="0"/>
              </a:rPr>
              <a:t>, the system is implemented using Python with li- </a:t>
            </a:r>
            <a:r>
              <a:rPr lang="en-US" dirty="0" err="1">
                <a:latin typeface="Times New Roman" panose="02020603050405020304" pitchFamily="18" charset="0"/>
                <a:cs typeface="Times New Roman" panose="02020603050405020304" pitchFamily="18" charset="0"/>
              </a:rPr>
              <a:t>braries</a:t>
            </a:r>
            <a:r>
              <a:rPr lang="en-US" dirty="0">
                <a:latin typeface="Times New Roman" panose="02020603050405020304" pitchFamily="18" charset="0"/>
                <a:cs typeface="Times New Roman" panose="02020603050405020304" pitchFamily="18" charset="0"/>
              </a:rPr>
              <a:t> such as OpenCV, PIL, and Cryptography, and includes a user-friendly graphical interface that allows users to easily encrypt, embed, extract, and decrypt messages.</a:t>
            </a:r>
            <a:endParaRPr 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B6259D46-2EE5-40FF-9018-C502A6B37DB0}" type="datetime1">
              <a:rPr lang="en-IN" smtClean="0">
                <a:latin typeface="Times New Roman" panose="02020603050405020304" pitchFamily="18" charset="0"/>
                <a:cs typeface="Times New Roman" panose="02020603050405020304" pitchFamily="18" charset="0"/>
              </a:rPr>
              <a:t>10-04-2026</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Batch No. 12  Department of Cyber Security</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3</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9108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009409" y="504038"/>
            <a:ext cx="10173182" cy="1096319"/>
          </a:xfrm>
        </p:spPr>
        <p:txBody>
          <a:bodyPr/>
          <a:lstStyle/>
          <a:p>
            <a:pPr algn="ctr"/>
            <a:r>
              <a:rPr lang="en-US" b="1" dirty="0">
                <a:latin typeface="Times New Roman" panose="02020603050405020304" pitchFamily="18" charset="0"/>
                <a:cs typeface="Times New Roman" panose="02020603050405020304" pitchFamily="18" charset="0"/>
              </a:rPr>
              <a:t>INTRODUCTION</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723900" y="1405970"/>
            <a:ext cx="10744200" cy="4667251"/>
          </a:xfrm>
        </p:spPr>
        <p:txBody>
          <a:bodyPr>
            <a:noAutofit/>
          </a:bodyPr>
          <a:lstStyle/>
          <a:p>
            <a:pPr marL="0" indent="0">
              <a:lnSpc>
                <a:spcPct val="100000"/>
              </a:lnSpc>
              <a:buNone/>
            </a:pPr>
            <a:r>
              <a:rPr lang="en-US" sz="2000" b="1" dirty="0">
                <a:latin typeface="Times New Roman" panose="02020603050405020304" pitchFamily="18" charset="0"/>
                <a:cs typeface="Times New Roman" panose="02020603050405020304" pitchFamily="18" charset="0"/>
              </a:rPr>
              <a:t>1. Brief Introduction to the Project</a:t>
            </a:r>
          </a:p>
          <a:p>
            <a:pPr marL="0" indent="0" algn="just">
              <a:lnSpc>
                <a:spcPct val="100000"/>
              </a:lnSpc>
              <a:buNone/>
            </a:pPr>
            <a:r>
              <a:rPr lang="en-US" sz="2000" dirty="0">
                <a:latin typeface="Times New Roman" panose="02020603050405020304" pitchFamily="18" charset="0"/>
                <a:cs typeface="Times New Roman" panose="02020603050405020304" pitchFamily="18" charset="0"/>
              </a:rPr>
              <a:t>The rapid growth of digital communication has increased the need for secure data transmission systems. Sensitive information such as personal messages, financial data, and confidential files are frequently exchanged over the internet, making them vulnerable to cyber attacks. Traditional security methods like encryption alone are not always sufficient, as encrypted data can still attract attackers</a:t>
            </a:r>
          </a:p>
          <a:p>
            <a:pPr marL="0" indent="0" algn="just">
              <a:lnSpc>
                <a:spcPct val="100000"/>
              </a:lnSpc>
              <a:buNone/>
            </a:pPr>
            <a:r>
              <a:rPr lang="en-US" sz="2000" b="1" dirty="0">
                <a:latin typeface="Times New Roman" panose="02020603050405020304" pitchFamily="18" charset="0"/>
                <a:cs typeface="Times New Roman" panose="02020603050405020304" pitchFamily="18" charset="0"/>
              </a:rPr>
              <a:t>2. Motivation behind the Project</a:t>
            </a:r>
          </a:p>
          <a:p>
            <a:pPr marL="0" indent="0">
              <a:lnSpc>
                <a:spcPct val="100000"/>
              </a:lnSpc>
              <a:buNone/>
            </a:pPr>
            <a:r>
              <a:rPr lang="en-US" sz="2000" dirty="0">
                <a:latin typeface="Times New Roman" panose="02020603050405020304" pitchFamily="18" charset="0"/>
                <a:cs typeface="Times New Roman" panose="02020603050405020304" pitchFamily="18" charset="0"/>
              </a:rPr>
              <a:t>The motivation behind this project arises from the need to develop a more intelligent, adaptive, and efficient system for detecting anomalies in network traffic. Machine learning offers a promising solution by enabling systems to learn patterns from data and identify unusual </a:t>
            </a:r>
            <a:r>
              <a:rPr lang="en-US" sz="2000" dirty="0" err="1">
                <a:latin typeface="Times New Roman" panose="02020603050405020304" pitchFamily="18" charset="0"/>
                <a:cs typeface="Times New Roman" panose="02020603050405020304" pitchFamily="18" charset="0"/>
              </a:rPr>
              <a:t>behaviour</a:t>
            </a:r>
            <a:r>
              <a:rPr lang="en-US" sz="2000" dirty="0">
                <a:latin typeface="Times New Roman" panose="02020603050405020304" pitchFamily="18" charset="0"/>
                <a:cs typeface="Times New Roman" panose="02020603050405020304" pitchFamily="18" charset="0"/>
              </a:rPr>
              <a:t> without relying solely on predefined rules. By leveraging machine learning techniques, it is possible to detect both known and unknown attacks with higher accuracy and reduced human intervention</a:t>
            </a:r>
          </a:p>
          <a:p>
            <a:pPr marL="0" indent="0" algn="just">
              <a:lnSpc>
                <a:spcPct val="100000"/>
              </a:lnSpc>
              <a:buNone/>
            </a:pPr>
            <a:endParaRPr lang="en-US" sz="2400" dirty="0"/>
          </a:p>
          <a:p>
            <a:pPr marL="0" indent="0" algn="just">
              <a:lnSpc>
                <a:spcPct val="100000"/>
              </a:lnSpc>
              <a:buNone/>
            </a:pPr>
            <a:endParaRPr lang="en-US" sz="2400"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0A51C34-4BAD-4F55-BA5C-34C303C13177}" type="datetime1">
              <a:rPr lang="en-IN" smtClean="0">
                <a:latin typeface="Times New Roman" panose="02020603050405020304" pitchFamily="18" charset="0"/>
                <a:cs typeface="Times New Roman" panose="02020603050405020304" pitchFamily="18" charset="0"/>
              </a:rPr>
              <a:t>10-04-2026</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Batch No. 12  Department of Cyber Security</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4</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57542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66617"/>
            <a:ext cx="10515600" cy="5410345"/>
          </a:xfrm>
        </p:spPr>
        <p:txBody>
          <a:bodyPr>
            <a:normAutofit/>
          </a:bodyPr>
          <a:lstStyle/>
          <a:p>
            <a:pPr marL="0" indent="0">
              <a:lnSpc>
                <a:spcPct val="150000"/>
              </a:lnSpc>
              <a:buNone/>
            </a:pPr>
            <a:r>
              <a:rPr lang="en-US" sz="2000" b="1" dirty="0">
                <a:latin typeface="Times New Roman" panose="02020603050405020304" pitchFamily="18" charset="0"/>
                <a:cs typeface="Times New Roman" panose="02020603050405020304" pitchFamily="18" charset="0"/>
              </a:rPr>
              <a:t>3. Importance and Relevance</a:t>
            </a:r>
          </a:p>
          <a:p>
            <a:pPr>
              <a:lnSpc>
                <a:spcPct val="150000"/>
              </a:lnSpc>
            </a:pPr>
            <a:r>
              <a:rPr lang="en-US" sz="2000" dirty="0">
                <a:latin typeface="Times New Roman" panose="02020603050405020304" pitchFamily="18" charset="0"/>
                <a:cs typeface="Times New Roman" panose="02020603050405020304" pitchFamily="18" charset="0"/>
              </a:rPr>
              <a:t>In today’s digital world, network security is very important due to the increasing number of cyberattacks and data breaches. Organizations depend on secure networks to protect sensitive information and maintain smooth operations. Traditional security systems often fail to detect new or unknown attacks and may generate high false alarms.</a:t>
            </a:r>
          </a:p>
          <a:p>
            <a:pPr>
              <a:lnSpc>
                <a:spcPct val="150000"/>
              </a:lnSpc>
            </a:pPr>
            <a:r>
              <a:rPr lang="en-US" sz="2000" dirty="0">
                <a:latin typeface="Times New Roman" panose="02020603050405020304" pitchFamily="18" charset="0"/>
                <a:cs typeface="Times New Roman" panose="02020603050405020304" pitchFamily="18" charset="0"/>
              </a:rPr>
              <a:t>The proposed Hybrid Network Anomaly Detection System is important because it provides a smart and efficient solution for detecting network threats. By combining rule-based detection with machine learning, the system improves accuracy, detects both known and unknown attacks, and reduces false positives. Its ability to work in real-time and provide quick responses makes it highly relevant for modern cybersecurity needs in organizations, enterprises, and research environments.</a:t>
            </a:r>
          </a:p>
          <a:p>
            <a:pPr marL="0" indent="0">
              <a:lnSpc>
                <a:spcPct val="150000"/>
              </a:lnSpc>
              <a:buNone/>
            </a:pPr>
            <a:endParaRPr lang="en-US" sz="2400" b="1"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E5E81861-3114-41AB-9D3F-1E25D6DAE479}" type="datetime1">
              <a:rPr lang="en-IN" smtClean="0">
                <a:latin typeface="Times New Roman" panose="02020603050405020304" pitchFamily="18" charset="0"/>
                <a:cs typeface="Times New Roman" panose="02020603050405020304" pitchFamily="18" charset="0"/>
              </a:rPr>
              <a:t>10-04-2026</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Batch No. 12  Department of Cyber Security</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5</a:t>
            </a:fld>
            <a:endParaRPr lang="en-US" dirty="0">
              <a:latin typeface="Times New Roman" panose="02020603050405020304" pitchFamily="18" charset="0"/>
              <a:cs typeface="Times New Roman" panose="02020603050405020304" pitchFamily="18" charset="0"/>
            </a:endParaRPr>
          </a:p>
        </p:txBody>
      </p:sp>
      <p:graphicFrame>
        <p:nvGraphicFramePr>
          <p:cNvPr id="2" name="Table 1"/>
          <p:cNvGraphicFramePr>
            <a:graphicFrameLocks noGrp="1"/>
          </p:cNvGraphicFramePr>
          <p:nvPr/>
        </p:nvGraphicFramePr>
        <p:xfrm>
          <a:off x="838200" y="3818414"/>
          <a:ext cx="10515600" cy="365760"/>
        </p:xfrm>
        <a:graphic>
          <a:graphicData uri="http://schemas.openxmlformats.org/drawingml/2006/table">
            <a:tbl>
              <a:tblPr/>
              <a:tblGrid>
                <a:gridCol w="10515600">
                  <a:extLst>
                    <a:ext uri="{9D8B030D-6E8A-4147-A177-3AD203B41FA5}">
                      <a16:colId xmlns:a16="http://schemas.microsoft.com/office/drawing/2014/main" val="20000"/>
                    </a:ext>
                  </a:extLst>
                </a:gridCol>
              </a:tblGrid>
              <a:tr h="0">
                <a:tc>
                  <a:txBody>
                    <a:bodyPr/>
                    <a:lstStyle/>
                    <a:p>
                      <a:endParaRPr lang="en-IN"/>
                    </a:p>
                  </a:txBody>
                  <a:tcPr anchor="ctr">
                    <a:lnL>
                      <a:noFill/>
                    </a:lnL>
                    <a:lnR>
                      <a:noFill/>
                    </a:lnR>
                    <a:lnT>
                      <a:noFill/>
                    </a:lnT>
                    <a:lnB>
                      <a:noFill/>
                    </a:lnB>
                  </a:tcPr>
                </a:tc>
                <a:extLst>
                  <a:ext uri="{0D108BD9-81ED-4DB2-BD59-A6C34878D82A}">
                    <a16:rowId xmlns:a16="http://schemas.microsoft.com/office/drawing/2014/main" val="10000"/>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282291736"/>
              </p:ext>
            </p:extLst>
          </p:nvPr>
        </p:nvGraphicFramePr>
        <p:xfrm>
          <a:off x="1047205" y="5412083"/>
          <a:ext cx="10515600" cy="365760"/>
        </p:xfrm>
        <a:graphic>
          <a:graphicData uri="http://schemas.openxmlformats.org/drawingml/2006/table">
            <a:tbl>
              <a:tblPr/>
              <a:tblGrid>
                <a:gridCol w="10515600">
                  <a:extLst>
                    <a:ext uri="{9D8B030D-6E8A-4147-A177-3AD203B41FA5}">
                      <a16:colId xmlns:a16="http://schemas.microsoft.com/office/drawing/2014/main" val="20000"/>
                    </a:ext>
                  </a:extLst>
                </a:gridCol>
              </a:tblGrid>
              <a:tr h="0">
                <a:tc>
                  <a:txBody>
                    <a:bodyPr/>
                    <a:lstStyle/>
                    <a:p>
                      <a:endParaRPr lang="en-IN" dirty="0"/>
                    </a:p>
                  </a:txBody>
                  <a:tcPr anchor="ctr">
                    <a:lnL>
                      <a:noFill/>
                    </a:lnL>
                    <a:lnR>
                      <a:noFill/>
                    </a:lnR>
                    <a:lnT>
                      <a:noFill/>
                    </a:lnT>
                    <a:lnB>
                      <a:noFill/>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966340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481352"/>
            <a:ext cx="10173182" cy="647700"/>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LITERATURE SURVEY</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a:bodyPr>
          <a:lstStyle/>
          <a:p>
            <a:pPr marL="0" indent="0">
              <a:buNone/>
            </a:pP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F527841E-47F2-41A5-BA43-437B1F0AC0E0}" type="datetime1">
              <a:rPr lang="en-IN" smtClean="0">
                <a:latin typeface="Times New Roman" panose="02020603050405020304" pitchFamily="18" charset="0"/>
                <a:cs typeface="Times New Roman" panose="02020603050405020304" pitchFamily="18" charset="0"/>
              </a:rPr>
              <a:t>10-04-2026</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Batch No. 12  Department of Cyber Security</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6</a:t>
            </a:fld>
            <a:endParaRPr lang="en-US">
              <a:latin typeface="Times New Roman" panose="02020603050405020304" pitchFamily="18" charset="0"/>
              <a:cs typeface="Times New Roman" panose="02020603050405020304" pitchFamily="18" charset="0"/>
            </a:endParaRPr>
          </a:p>
        </p:txBody>
      </p:sp>
      <p:sp>
        <p:nvSpPr>
          <p:cNvPr id="10" name="Content Placeholder 8">
            <a:extLst>
              <a:ext uri="{FF2B5EF4-FFF2-40B4-BE49-F238E27FC236}">
                <a16:creationId xmlns:a16="http://schemas.microsoft.com/office/drawing/2014/main" id="{3E8CACDC-CE1B-448A-5D5F-BF4D715F95AE}"/>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latin typeface="Times New Roman" panose="02020603050405020304" pitchFamily="18" charset="0"/>
              <a:cs typeface="Times New Roman" panose="02020603050405020304" pitchFamily="18" charset="0"/>
            </a:endParaRPr>
          </a:p>
        </p:txBody>
      </p:sp>
      <p:graphicFrame>
        <p:nvGraphicFramePr>
          <p:cNvPr id="2" name="Table 1"/>
          <p:cNvGraphicFramePr>
            <a:graphicFrameLocks noGrp="1"/>
          </p:cNvGraphicFramePr>
          <p:nvPr>
            <p:extLst>
              <p:ext uri="{D42A27DB-BD31-4B8C-83A1-F6EECF244321}">
                <p14:modId xmlns:p14="http://schemas.microsoft.com/office/powerpoint/2010/main" val="3045466492"/>
              </p:ext>
            </p:extLst>
          </p:nvPr>
        </p:nvGraphicFramePr>
        <p:xfrm>
          <a:off x="990600" y="1218745"/>
          <a:ext cx="10086704" cy="4814346"/>
        </p:xfrm>
        <a:graphic>
          <a:graphicData uri="http://schemas.openxmlformats.org/drawingml/2006/table">
            <a:tbl>
              <a:tblPr/>
              <a:tblGrid>
                <a:gridCol w="1264922">
                  <a:extLst>
                    <a:ext uri="{9D8B030D-6E8A-4147-A177-3AD203B41FA5}">
                      <a16:colId xmlns:a16="http://schemas.microsoft.com/office/drawing/2014/main" val="20000"/>
                    </a:ext>
                  </a:extLst>
                </a:gridCol>
                <a:gridCol w="3778430">
                  <a:extLst>
                    <a:ext uri="{9D8B030D-6E8A-4147-A177-3AD203B41FA5}">
                      <a16:colId xmlns:a16="http://schemas.microsoft.com/office/drawing/2014/main" val="20001"/>
                    </a:ext>
                  </a:extLst>
                </a:gridCol>
                <a:gridCol w="2521676">
                  <a:extLst>
                    <a:ext uri="{9D8B030D-6E8A-4147-A177-3AD203B41FA5}">
                      <a16:colId xmlns:a16="http://schemas.microsoft.com/office/drawing/2014/main" val="20002"/>
                    </a:ext>
                  </a:extLst>
                </a:gridCol>
                <a:gridCol w="2521676">
                  <a:extLst>
                    <a:ext uri="{9D8B030D-6E8A-4147-A177-3AD203B41FA5}">
                      <a16:colId xmlns:a16="http://schemas.microsoft.com/office/drawing/2014/main" val="20003"/>
                    </a:ext>
                  </a:extLst>
                </a:gridCol>
              </a:tblGrid>
              <a:tr h="1604782">
                <a:tc>
                  <a:txBody>
                    <a:bodyPr/>
                    <a:lstStyle/>
                    <a:p>
                      <a:pPr algn="ctr"/>
                      <a:r>
                        <a:rPr lang="en-IN" sz="1600" b="1" dirty="0"/>
                        <a:t>S . No</a:t>
                      </a:r>
                      <a:endParaRPr lang="en-IN" sz="1600" dirty="0"/>
                    </a:p>
                  </a:txBody>
                  <a:tcPr marL="69069" marR="69069" marT="34534" marB="345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IN" sz="1600" b="1" dirty="0"/>
                        <a:t>Research Work / Journal</a:t>
                      </a:r>
                      <a:endParaRPr lang="en-IN" sz="1600" dirty="0"/>
                    </a:p>
                  </a:txBody>
                  <a:tcPr marL="69069" marR="69069" marT="34534" marB="345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IN" sz="1600" b="1" dirty="0"/>
                        <a:t>Research Outcome</a:t>
                      </a:r>
                      <a:endParaRPr lang="en-IN" sz="1600" dirty="0"/>
                    </a:p>
                  </a:txBody>
                  <a:tcPr marL="69069" marR="69069" marT="34534" marB="345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IN" sz="1600" b="1" dirty="0"/>
                        <a:t>Research Gap</a:t>
                      </a:r>
                      <a:endParaRPr lang="en-IN" sz="1600" dirty="0"/>
                    </a:p>
                  </a:txBody>
                  <a:tcPr marL="69069" marR="69069" marT="34534" marB="345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10000"/>
                  </a:ext>
                </a:extLst>
              </a:tr>
              <a:tr h="1604782">
                <a:tc>
                  <a:txBody>
                    <a:bodyPr/>
                    <a:lstStyle/>
                    <a:p>
                      <a:pPr algn="ctr"/>
                      <a:r>
                        <a:rPr lang="en-US" sz="1600" dirty="0"/>
                        <a:t>1.</a:t>
                      </a:r>
                      <a:endParaRPr lang="en-IN" sz="1600" dirty="0"/>
                    </a:p>
                  </a:txBody>
                  <a:tcPr marL="69069" marR="69069" marT="34534" marB="345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dirty="0"/>
                        <a:t>AES Standard (NIST)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a:t>AES provides strong encryption ensuring high data confidentiality and is widely used for secure communication.</a:t>
                      </a:r>
                      <a:endParaRPr lang="en-IN" sz="1400" dirty="0"/>
                    </a:p>
                  </a:txBody>
                  <a:tcPr marL="69069" marR="69069" marT="34534" marB="345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a:t>Encryption alone does not hide the presence of data, making it vulnerable to detection and targeted attacks.</a:t>
                      </a:r>
                      <a:endParaRPr lang="en-IN" sz="1400" dirty="0"/>
                    </a:p>
                  </a:txBody>
                  <a:tcPr marL="69069" marR="69069" marT="34534" marB="345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604782">
                <a:tc>
                  <a:txBody>
                    <a:bodyPr/>
                    <a:lstStyle/>
                    <a:p>
                      <a:pPr algn="ctr"/>
                      <a:r>
                        <a:rPr lang="en-US" sz="1400" dirty="0"/>
                        <a:t>2.</a:t>
                      </a:r>
                      <a:endParaRPr lang="en-IN" sz="1400" dirty="0"/>
                    </a:p>
                  </a:txBody>
                  <a:tcPr marL="69069" marR="69069" marT="34534" marB="345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Cryptography and Network Security – William Stallings</a:t>
                      </a:r>
                      <a:endParaRPr lang="en-IN" sz="1400" dirty="0"/>
                    </a:p>
                  </a:txBody>
                  <a:tcPr marL="69069" marR="69069" marT="34534" marB="345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Highlights importance of encryption and hashing techniques for secure data transmission.</a:t>
                      </a:r>
                      <a:endParaRPr lang="en-IN" sz="1400" dirty="0"/>
                    </a:p>
                  </a:txBody>
                  <a:tcPr marL="69069" marR="69069" marT="34534" marB="345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Focuses mainly on cryptography and lacks integration with data hiding techniques like steganography.</a:t>
                      </a:r>
                      <a:endParaRPr lang="en-IN" sz="1400" dirty="0"/>
                    </a:p>
                  </a:txBody>
                  <a:tcPr marL="69069" marR="69069" marT="34534" marB="345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397972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724989" y="1303111"/>
            <a:ext cx="10515600" cy="4351338"/>
          </a:xfrm>
        </p:spPr>
        <p:txBody>
          <a:bodyPr>
            <a:normAutofit/>
          </a:bodyPr>
          <a:lstStyle/>
          <a:p>
            <a:pPr marL="0" indent="0">
              <a:buNone/>
            </a:pP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D7A3BFA4-3B04-45E4-9380-B2F45C49513F}" type="datetime1">
              <a:rPr lang="en-IN" smtClean="0">
                <a:latin typeface="Times New Roman" panose="02020603050405020304" pitchFamily="18" charset="0"/>
                <a:cs typeface="Times New Roman" panose="02020603050405020304" pitchFamily="18" charset="0"/>
              </a:rPr>
              <a:t>10-04-2026</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Batch No. 12  Department of Cyber Security</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7</a:t>
            </a:fld>
            <a:endParaRPr lang="en-US">
              <a:latin typeface="Times New Roman" panose="02020603050405020304" pitchFamily="18" charset="0"/>
              <a:cs typeface="Times New Roman" panose="02020603050405020304" pitchFamily="18" charset="0"/>
            </a:endParaRPr>
          </a:p>
        </p:txBody>
      </p:sp>
      <p:sp>
        <p:nvSpPr>
          <p:cNvPr id="10" name="Content Placeholder 8">
            <a:extLst>
              <a:ext uri="{FF2B5EF4-FFF2-40B4-BE49-F238E27FC236}">
                <a16:creationId xmlns:a16="http://schemas.microsoft.com/office/drawing/2014/main" id="{3E8CACDC-CE1B-448A-5D5F-BF4D715F95AE}"/>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latin typeface="Times New Roman" panose="02020603050405020304" pitchFamily="18" charset="0"/>
              <a:cs typeface="Times New Roman" panose="02020603050405020304" pitchFamily="18" charset="0"/>
            </a:endParaRPr>
          </a:p>
        </p:txBody>
      </p:sp>
      <p:sp>
        <p:nvSpPr>
          <p:cNvPr id="11" name="Title 7">
            <a:extLst>
              <a:ext uri="{FF2B5EF4-FFF2-40B4-BE49-F238E27FC236}">
                <a16:creationId xmlns:a16="http://schemas.microsoft.com/office/drawing/2014/main" id="{D45DB3B1-7702-A34D-B15A-E964B95D6FB5}"/>
              </a:ext>
            </a:extLst>
          </p:cNvPr>
          <p:cNvSpPr>
            <a:spLocks noGrp="1"/>
          </p:cNvSpPr>
          <p:nvPr>
            <p:ph type="title"/>
          </p:nvPr>
        </p:nvSpPr>
        <p:spPr>
          <a:xfrm>
            <a:off x="1689100" y="365126"/>
            <a:ext cx="9664700" cy="434974"/>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LITERATURE SURVEY</a:t>
            </a:r>
          </a:p>
        </p:txBody>
      </p:sp>
      <p:graphicFrame>
        <p:nvGraphicFramePr>
          <p:cNvPr id="12" name="Table 11"/>
          <p:cNvGraphicFramePr>
            <a:graphicFrameLocks noGrp="1"/>
          </p:cNvGraphicFramePr>
          <p:nvPr>
            <p:extLst>
              <p:ext uri="{D42A27DB-BD31-4B8C-83A1-F6EECF244321}">
                <p14:modId xmlns:p14="http://schemas.microsoft.com/office/powerpoint/2010/main" val="2261599687"/>
              </p:ext>
            </p:extLst>
          </p:nvPr>
        </p:nvGraphicFramePr>
        <p:xfrm>
          <a:off x="990600" y="1071607"/>
          <a:ext cx="10086704" cy="4814346"/>
        </p:xfrm>
        <a:graphic>
          <a:graphicData uri="http://schemas.openxmlformats.org/drawingml/2006/table">
            <a:tbl>
              <a:tblPr/>
              <a:tblGrid>
                <a:gridCol w="1264922">
                  <a:extLst>
                    <a:ext uri="{9D8B030D-6E8A-4147-A177-3AD203B41FA5}">
                      <a16:colId xmlns:a16="http://schemas.microsoft.com/office/drawing/2014/main" val="20000"/>
                    </a:ext>
                  </a:extLst>
                </a:gridCol>
                <a:gridCol w="3778430">
                  <a:extLst>
                    <a:ext uri="{9D8B030D-6E8A-4147-A177-3AD203B41FA5}">
                      <a16:colId xmlns:a16="http://schemas.microsoft.com/office/drawing/2014/main" val="20001"/>
                    </a:ext>
                  </a:extLst>
                </a:gridCol>
                <a:gridCol w="2521676">
                  <a:extLst>
                    <a:ext uri="{9D8B030D-6E8A-4147-A177-3AD203B41FA5}">
                      <a16:colId xmlns:a16="http://schemas.microsoft.com/office/drawing/2014/main" val="20002"/>
                    </a:ext>
                  </a:extLst>
                </a:gridCol>
                <a:gridCol w="2521676">
                  <a:extLst>
                    <a:ext uri="{9D8B030D-6E8A-4147-A177-3AD203B41FA5}">
                      <a16:colId xmlns:a16="http://schemas.microsoft.com/office/drawing/2014/main" val="20003"/>
                    </a:ext>
                  </a:extLst>
                </a:gridCol>
              </a:tblGrid>
              <a:tr h="1604782">
                <a:tc>
                  <a:txBody>
                    <a:bodyPr/>
                    <a:lstStyle/>
                    <a:p>
                      <a:pPr algn="ctr"/>
                      <a:r>
                        <a:rPr lang="en-IN" sz="1600" b="1" dirty="0"/>
                        <a:t>S . No</a:t>
                      </a:r>
                      <a:endParaRPr lang="en-IN" sz="1600" dirty="0"/>
                    </a:p>
                  </a:txBody>
                  <a:tcPr marL="69069" marR="69069" marT="34534" marB="345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IN" sz="1600" b="1" dirty="0"/>
                        <a:t>Research Work / Journal</a:t>
                      </a:r>
                      <a:endParaRPr lang="en-IN" sz="1600" dirty="0"/>
                    </a:p>
                  </a:txBody>
                  <a:tcPr marL="69069" marR="69069" marT="34534" marB="345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IN" sz="1600" b="1" dirty="0"/>
                        <a:t>Research Outcome</a:t>
                      </a:r>
                      <a:endParaRPr lang="en-IN" sz="1600" dirty="0"/>
                    </a:p>
                  </a:txBody>
                  <a:tcPr marL="69069" marR="69069" marT="34534" marB="345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IN" sz="1600" b="1" dirty="0"/>
                        <a:t>Research Gap</a:t>
                      </a:r>
                      <a:endParaRPr lang="en-IN" sz="1600" dirty="0"/>
                    </a:p>
                  </a:txBody>
                  <a:tcPr marL="69069" marR="69069" marT="34534" marB="345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10000"/>
                  </a:ext>
                </a:extLst>
              </a:tr>
              <a:tr h="1604782">
                <a:tc>
                  <a:txBody>
                    <a:bodyPr/>
                    <a:lstStyle/>
                    <a:p>
                      <a:pPr algn="ctr"/>
                      <a:r>
                        <a:rPr lang="en-US" sz="1600" dirty="0"/>
                        <a:t>3.</a:t>
                      </a:r>
                      <a:endParaRPr lang="en-IN" sz="1600" dirty="0"/>
                    </a:p>
                  </a:txBody>
                  <a:tcPr marL="69069" marR="69069" marT="34534" marB="345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Digital Image Steganography – Neal Krawetz</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Demonstrates effective methods for hiding data within images without noticeable changes.</a:t>
                      </a:r>
                      <a:endParaRPr lang="en-IN" sz="1400" dirty="0"/>
                    </a:p>
                  </a:txBody>
                  <a:tcPr marL="69069" marR="69069" marT="34534" marB="345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Lacks strong encryption, making hidden data vulnerable if detected</a:t>
                      </a:r>
                      <a:endParaRPr lang="en-IN" sz="1400" dirty="0"/>
                    </a:p>
                  </a:txBody>
                  <a:tcPr marL="69069" marR="69069" marT="34534" marB="345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604782">
                <a:tc>
                  <a:txBody>
                    <a:bodyPr/>
                    <a:lstStyle/>
                    <a:p>
                      <a:pPr algn="ctr"/>
                      <a:r>
                        <a:rPr lang="en-US" sz="1400" dirty="0"/>
                        <a:t>4.</a:t>
                      </a:r>
                      <a:endParaRPr lang="en-IN" sz="1400" dirty="0"/>
                    </a:p>
                  </a:txBody>
                  <a:tcPr marL="69069" marR="69069" marT="34534" marB="345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IEEE Research Papers on Steganography</a:t>
                      </a:r>
                      <a:r>
                        <a:rPr lang="en-IN" sz="1600"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600" dirty="0"/>
                    </a:p>
                    <a:p>
                      <a:endParaRPr lang="en-IN" sz="1400" dirty="0"/>
                    </a:p>
                  </a:txBody>
                  <a:tcPr marL="69069" marR="69069" marT="34534" marB="345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Provide advanced techniques combining spatial and frequency domain methods for better security.</a:t>
                      </a:r>
                      <a:endParaRPr lang="en-IN" sz="1400" dirty="0"/>
                    </a:p>
                  </a:txBody>
                  <a:tcPr marL="69069" marR="69069" marT="34534" marB="345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a:t>Many methods lack proper authentication mechanisms and are not user-friendly for real-time applications.</a:t>
                      </a:r>
                      <a:endParaRPr lang="en-IN" sz="1400" dirty="0"/>
                    </a:p>
                  </a:txBody>
                  <a:tcPr marL="69069" marR="69069" marT="34534" marB="345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6010806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674916" y="1168400"/>
            <a:ext cx="10515600" cy="4840514"/>
          </a:xfrm>
        </p:spPr>
        <p:txBody>
          <a:bodyPr>
            <a:normAutofit/>
          </a:bodyPr>
          <a:lstStyle/>
          <a:p>
            <a:pPr marL="0" indent="0">
              <a:buNone/>
            </a:pP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4ADA5609-ABC5-42AA-82B6-CC4E8B74890E}" type="datetime1">
              <a:rPr lang="en-IN" smtClean="0">
                <a:latin typeface="Times New Roman" panose="02020603050405020304" pitchFamily="18" charset="0"/>
                <a:cs typeface="Times New Roman" panose="02020603050405020304" pitchFamily="18" charset="0"/>
              </a:rPr>
              <a:t>10-04-2026</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Batch No. 12  Department of Cyber Security</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8</a:t>
            </a:fld>
            <a:endParaRPr lang="en-US">
              <a:latin typeface="Times New Roman" panose="02020603050405020304" pitchFamily="18" charset="0"/>
              <a:cs typeface="Times New Roman" panose="02020603050405020304" pitchFamily="18" charset="0"/>
            </a:endParaRPr>
          </a:p>
        </p:txBody>
      </p:sp>
      <p:sp>
        <p:nvSpPr>
          <p:cNvPr id="10" name="Content Placeholder 8">
            <a:extLst>
              <a:ext uri="{FF2B5EF4-FFF2-40B4-BE49-F238E27FC236}">
                <a16:creationId xmlns:a16="http://schemas.microsoft.com/office/drawing/2014/main" id="{3E8CACDC-CE1B-448A-5D5F-BF4D715F95AE}"/>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latin typeface="Times New Roman" panose="02020603050405020304" pitchFamily="18" charset="0"/>
              <a:cs typeface="Times New Roman" panose="02020603050405020304" pitchFamily="18" charset="0"/>
            </a:endParaRPr>
          </a:p>
        </p:txBody>
      </p:sp>
      <p:sp>
        <p:nvSpPr>
          <p:cNvPr id="11" name="Title 7">
            <a:extLst>
              <a:ext uri="{FF2B5EF4-FFF2-40B4-BE49-F238E27FC236}">
                <a16:creationId xmlns:a16="http://schemas.microsoft.com/office/drawing/2014/main" id="{D45DB3B1-7702-A34D-B15A-E964B95D6FB5}"/>
              </a:ext>
            </a:extLst>
          </p:cNvPr>
          <p:cNvSpPr>
            <a:spLocks noGrp="1"/>
          </p:cNvSpPr>
          <p:nvPr>
            <p:ph type="title"/>
          </p:nvPr>
        </p:nvSpPr>
        <p:spPr>
          <a:xfrm>
            <a:off x="1612900" y="365125"/>
            <a:ext cx="9740900" cy="803275"/>
          </a:xfrm>
        </p:spPr>
        <p:txBody>
          <a:bodyPr>
            <a:normAutofit/>
          </a:bodyPr>
          <a:lstStyle/>
          <a:p>
            <a:pPr algn="ctr"/>
            <a:r>
              <a:rPr lang="en-US" sz="4000" b="1" dirty="0">
                <a:latin typeface="Times New Roman" panose="02020603050405020304" pitchFamily="18" charset="0"/>
                <a:cs typeface="Times New Roman" panose="02020603050405020304" pitchFamily="18" charset="0"/>
              </a:rPr>
              <a:t>LITERATURE SURVEY</a:t>
            </a:r>
          </a:p>
        </p:txBody>
      </p:sp>
      <p:graphicFrame>
        <p:nvGraphicFramePr>
          <p:cNvPr id="12" name="Table 11"/>
          <p:cNvGraphicFramePr>
            <a:graphicFrameLocks noGrp="1"/>
          </p:cNvGraphicFramePr>
          <p:nvPr>
            <p:extLst>
              <p:ext uri="{D42A27DB-BD31-4B8C-83A1-F6EECF244321}">
                <p14:modId xmlns:p14="http://schemas.microsoft.com/office/powerpoint/2010/main" val="2899876450"/>
              </p:ext>
            </p:extLst>
          </p:nvPr>
        </p:nvGraphicFramePr>
        <p:xfrm>
          <a:off x="1103812" y="1389241"/>
          <a:ext cx="10086704" cy="3195594"/>
        </p:xfrm>
        <a:graphic>
          <a:graphicData uri="http://schemas.openxmlformats.org/drawingml/2006/table">
            <a:tbl>
              <a:tblPr/>
              <a:tblGrid>
                <a:gridCol w="1264922">
                  <a:extLst>
                    <a:ext uri="{9D8B030D-6E8A-4147-A177-3AD203B41FA5}">
                      <a16:colId xmlns:a16="http://schemas.microsoft.com/office/drawing/2014/main" val="20000"/>
                    </a:ext>
                  </a:extLst>
                </a:gridCol>
                <a:gridCol w="3778430">
                  <a:extLst>
                    <a:ext uri="{9D8B030D-6E8A-4147-A177-3AD203B41FA5}">
                      <a16:colId xmlns:a16="http://schemas.microsoft.com/office/drawing/2014/main" val="20001"/>
                    </a:ext>
                  </a:extLst>
                </a:gridCol>
                <a:gridCol w="2521676">
                  <a:extLst>
                    <a:ext uri="{9D8B030D-6E8A-4147-A177-3AD203B41FA5}">
                      <a16:colId xmlns:a16="http://schemas.microsoft.com/office/drawing/2014/main" val="20002"/>
                    </a:ext>
                  </a:extLst>
                </a:gridCol>
                <a:gridCol w="2521676">
                  <a:extLst>
                    <a:ext uri="{9D8B030D-6E8A-4147-A177-3AD203B41FA5}">
                      <a16:colId xmlns:a16="http://schemas.microsoft.com/office/drawing/2014/main" val="20003"/>
                    </a:ext>
                  </a:extLst>
                </a:gridCol>
              </a:tblGrid>
              <a:tr h="1597797">
                <a:tc>
                  <a:txBody>
                    <a:bodyPr/>
                    <a:lstStyle/>
                    <a:p>
                      <a:pPr algn="ctr"/>
                      <a:r>
                        <a:rPr lang="en-IN" sz="1600" b="1" dirty="0"/>
                        <a:t>S . No</a:t>
                      </a:r>
                      <a:endParaRPr lang="en-IN" sz="1600" dirty="0"/>
                    </a:p>
                  </a:txBody>
                  <a:tcPr marL="69069" marR="69069" marT="34534" marB="345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IN" sz="1600" b="1" dirty="0"/>
                        <a:t>Research Work / Journal</a:t>
                      </a:r>
                      <a:endParaRPr lang="en-IN" sz="1600" dirty="0"/>
                    </a:p>
                  </a:txBody>
                  <a:tcPr marL="69069" marR="69069" marT="34534" marB="345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IN" sz="1600" b="1" dirty="0"/>
                        <a:t>Research Outcome</a:t>
                      </a:r>
                      <a:endParaRPr lang="en-IN" sz="1600" dirty="0"/>
                    </a:p>
                  </a:txBody>
                  <a:tcPr marL="69069" marR="69069" marT="34534" marB="345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IN" sz="1600" b="1" dirty="0"/>
                        <a:t>Research Gap</a:t>
                      </a:r>
                      <a:endParaRPr lang="en-IN" sz="1600" dirty="0"/>
                    </a:p>
                  </a:txBody>
                  <a:tcPr marL="69069" marR="69069" marT="34534" marB="345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10000"/>
                  </a:ext>
                </a:extLst>
              </a:tr>
              <a:tr h="1597797">
                <a:tc>
                  <a:txBody>
                    <a:bodyPr/>
                    <a:lstStyle/>
                    <a:p>
                      <a:pPr algn="ctr"/>
                      <a:r>
                        <a:rPr lang="en-US" sz="1600" dirty="0"/>
                        <a:t>5.</a:t>
                      </a:r>
                      <a:endParaRPr lang="en-IN" sz="1600" dirty="0"/>
                    </a:p>
                  </a:txBody>
                  <a:tcPr marL="69069" marR="69069" marT="34534" marB="345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dirty="0"/>
                        <a:t>    OpenCV Documentation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a:t>Offers efficient tools for image processing and implementation of steganography techniques.</a:t>
                      </a:r>
                      <a:endParaRPr lang="en-IN" sz="1400" dirty="0"/>
                    </a:p>
                  </a:txBody>
                  <a:tcPr marL="69069" marR="69069" marT="34534" marB="345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a:t>Does not provide built-in security features like encryption or authentication, requiring external integration.</a:t>
                      </a:r>
                      <a:endParaRPr lang="en-IN" sz="1400" dirty="0"/>
                    </a:p>
                  </a:txBody>
                  <a:tcPr marL="69069" marR="69069" marT="34534" marB="345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6717236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009409" y="442552"/>
            <a:ext cx="10173182" cy="1128009"/>
          </a:xfrm>
        </p:spPr>
        <p:txBody>
          <a:bodyPr/>
          <a:lstStyle/>
          <a:p>
            <a:pPr algn="ctr"/>
            <a:r>
              <a:rPr lang="en-US" b="1" dirty="0">
                <a:latin typeface="Times New Roman" panose="02020603050405020304" pitchFamily="18" charset="0"/>
                <a:cs typeface="Times New Roman" panose="02020603050405020304" pitchFamily="18" charset="0"/>
              </a:rPr>
              <a:t>RESEARCH GAPS</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684133" y="1570561"/>
            <a:ext cx="10680700" cy="4247243"/>
          </a:xfrm>
        </p:spPr>
        <p:txBody>
          <a:bodyPr>
            <a:noAutofit/>
          </a:bodyPr>
          <a:lstStyle/>
          <a:p>
            <a:pPr marL="0" indent="0">
              <a:lnSpc>
                <a:spcPct val="100000"/>
              </a:lnSpc>
              <a:buNone/>
            </a:pPr>
            <a:r>
              <a:rPr lang="en-US" sz="2000" dirty="0">
                <a:latin typeface="Times New Roman" panose="02020603050405020304" pitchFamily="18" charset="0"/>
                <a:cs typeface="Times New Roman" panose="02020603050405020304" pitchFamily="18" charset="0"/>
              </a:rPr>
              <a:t>The proposed Dual Layer </a:t>
            </a:r>
            <a:r>
              <a:rPr lang="en-US" sz="2000" dirty="0" err="1">
                <a:latin typeface="Times New Roman" panose="02020603050405020304" pitchFamily="18" charset="0"/>
                <a:cs typeface="Times New Roman" panose="02020603050405020304" pitchFamily="18" charset="0"/>
              </a:rPr>
              <a:t>Stegnography</a:t>
            </a:r>
            <a:r>
              <a:rPr lang="en-US" sz="2000" dirty="0">
                <a:latin typeface="Times New Roman" panose="02020603050405020304" pitchFamily="18" charset="0"/>
                <a:cs typeface="Times New Roman" panose="02020603050405020304" pitchFamily="18" charset="0"/>
              </a:rPr>
              <a:t> System is designed to overcome the limitations identified in existing research works. The following points explain how the project addresses each research gap:</a:t>
            </a:r>
          </a:p>
          <a:p>
            <a:pPr marL="0" indent="0">
              <a:buNone/>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Gap 1: </a:t>
            </a:r>
            <a:r>
              <a:rPr lang="en-US" sz="2000" b="1" dirty="0"/>
              <a:t>Lack of Dual-Layer Security</a:t>
            </a:r>
          </a:p>
          <a:p>
            <a:pPr marL="0" indent="0">
              <a:buNone/>
            </a:pPr>
            <a:r>
              <a:rPr lang="en-US" sz="2000" b="1" dirty="0"/>
              <a:t> Challenge:</a:t>
            </a:r>
            <a:r>
              <a:rPr lang="en-US" sz="2000" dirty="0"/>
              <a:t> Existing systems use either encryption or steganography, not both together.</a:t>
            </a:r>
            <a:br>
              <a:rPr lang="en-US" sz="2000" dirty="0"/>
            </a:br>
            <a:r>
              <a:rPr lang="en-US" sz="2000" dirty="0"/>
              <a:t> </a:t>
            </a:r>
            <a:r>
              <a:rPr lang="en-US" sz="2000" b="1" dirty="0"/>
              <a:t>Solution:</a:t>
            </a:r>
            <a:r>
              <a:rPr lang="en-US" sz="2000" dirty="0"/>
              <a:t> Combine AES encryption with LSB/DCT steganography for enhanced security</a:t>
            </a:r>
          </a:p>
          <a:p>
            <a:pPr marL="0" indent="0">
              <a:buNone/>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Gap 2: </a:t>
            </a:r>
            <a:r>
              <a:rPr lang="en-US" sz="2000" b="1" dirty="0"/>
              <a:t>Absence of Data Integrity Verification</a:t>
            </a:r>
          </a:p>
          <a:p>
            <a:pPr marL="0" indent="0">
              <a:buNone/>
            </a:pPr>
            <a:r>
              <a:rPr lang="en-US" sz="2000" b="1" dirty="0"/>
              <a:t> Challenge:</a:t>
            </a:r>
            <a:r>
              <a:rPr lang="en-US" sz="2000" dirty="0"/>
              <a:t> Many systems do not detect data tampering during transmission.</a:t>
            </a:r>
            <a:br>
              <a:rPr lang="en-US" sz="2000" dirty="0"/>
            </a:br>
            <a:r>
              <a:rPr lang="en-US" sz="2000" dirty="0"/>
              <a:t> </a:t>
            </a:r>
            <a:r>
              <a:rPr lang="en-US" sz="2000" b="1" dirty="0"/>
              <a:t>Solution:</a:t>
            </a:r>
            <a:r>
              <a:rPr lang="en-US" sz="2000" dirty="0"/>
              <a:t> Use SHA-256 hashing to ensure data integrity and authenticity.</a:t>
            </a:r>
          </a:p>
          <a:p>
            <a:pPr marL="0" indent="0">
              <a:buNone/>
            </a:pPr>
            <a:endParaRPr lang="en-US" sz="24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A5379328-4DD2-4424-9E18-E813EED8189E}" type="datetime1">
              <a:rPr lang="en-IN" smtClean="0">
                <a:latin typeface="Times New Roman" panose="02020603050405020304" pitchFamily="18" charset="0"/>
                <a:cs typeface="Times New Roman" panose="02020603050405020304" pitchFamily="18" charset="0"/>
              </a:rPr>
              <a:t>10-04-2026</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Batch No. 12  Department of Cyber Security</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9</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31685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009409"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RESEARCH GAPS</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233055"/>
            <a:ext cx="10515600" cy="5001489"/>
          </a:xfrm>
        </p:spPr>
        <p:txBody>
          <a:bodyPr>
            <a:noAutofit/>
          </a:bodyPr>
          <a:lstStyle/>
          <a:p>
            <a:pPr marL="0" indent="0">
              <a:buNone/>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Gap 3: </a:t>
            </a:r>
            <a:r>
              <a:rPr lang="en-US" sz="2000" b="1" dirty="0"/>
              <a:t>Low Robustness Against Attacks</a:t>
            </a:r>
          </a:p>
          <a:p>
            <a:pPr marL="0" indent="0">
              <a:buNone/>
            </a:pPr>
            <a:r>
              <a:rPr lang="en-US" sz="2000" b="1" dirty="0"/>
              <a:t>   Challenge:</a:t>
            </a:r>
            <a:r>
              <a:rPr lang="en-US" sz="2000" dirty="0"/>
              <a:t> Traditional LSB methods are vulnerable to compression and image processing.</a:t>
            </a:r>
            <a:br>
              <a:rPr lang="en-US" sz="2000" dirty="0"/>
            </a:br>
            <a:r>
              <a:rPr lang="en-US" sz="2000" dirty="0"/>
              <a:t>   </a:t>
            </a:r>
            <a:r>
              <a:rPr lang="en-US" sz="2000" b="1" dirty="0"/>
              <a:t>Solution:</a:t>
            </a:r>
            <a:r>
              <a:rPr lang="en-US" sz="2000" dirty="0"/>
              <a:t> Integrate DCT-based embedding to improve robustness.</a:t>
            </a:r>
          </a:p>
          <a:p>
            <a:pPr marL="0" indent="0">
              <a:lnSpc>
                <a:spcPct val="150000"/>
              </a:lnSpc>
              <a:buNone/>
            </a:pP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Gap 4 : </a:t>
            </a:r>
            <a:r>
              <a:rPr lang="en-US" sz="2000" b="1" dirty="0"/>
              <a:t>Limited Flexibility in Techniques</a:t>
            </a:r>
          </a:p>
          <a:p>
            <a:pPr marL="0" indent="0">
              <a:buNone/>
            </a:pPr>
            <a:r>
              <a:rPr lang="en-US" sz="2000" b="1" dirty="0"/>
              <a:t>  Challenge:</a:t>
            </a:r>
            <a:r>
              <a:rPr lang="en-US" sz="2000" dirty="0"/>
              <a:t> Systems rely on a single embedding method.</a:t>
            </a:r>
            <a:br>
              <a:rPr lang="en-US" sz="2000" dirty="0"/>
            </a:br>
            <a:r>
              <a:rPr lang="en-US" sz="2000" dirty="0"/>
              <a:t>  </a:t>
            </a:r>
            <a:r>
              <a:rPr lang="en-US" sz="2000" b="1" dirty="0"/>
              <a:t>Solution:</a:t>
            </a:r>
            <a:r>
              <a:rPr lang="en-US" sz="2000" dirty="0"/>
              <a:t> Provide both LSB and DCT options for better adaptability.</a:t>
            </a:r>
          </a:p>
          <a:p>
            <a:pPr marL="0" indent="0">
              <a:buNone/>
            </a:pP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Gap 5: </a:t>
            </a:r>
            <a:r>
              <a:rPr lang="en-US" sz="2000" b="1" dirty="0"/>
              <a:t>Poor User Accessibility</a:t>
            </a:r>
          </a:p>
          <a:p>
            <a:pPr marL="0" indent="0">
              <a:buNone/>
            </a:pPr>
            <a:r>
              <a:rPr lang="en-US" sz="2000" b="1" dirty="0"/>
              <a:t>   Challenge:</a:t>
            </a:r>
            <a:r>
              <a:rPr lang="en-US" sz="2000" dirty="0"/>
              <a:t> Many systems lack user-friendly interfaces.</a:t>
            </a:r>
            <a:br>
              <a:rPr lang="en-US" sz="2000" dirty="0"/>
            </a:br>
            <a:r>
              <a:rPr lang="en-US" sz="2000" dirty="0"/>
              <a:t>   </a:t>
            </a:r>
            <a:r>
              <a:rPr lang="en-US" sz="2000" b="1" dirty="0"/>
              <a:t>Solution:</a:t>
            </a:r>
            <a:r>
              <a:rPr lang="en-US" sz="2000" dirty="0"/>
              <a:t> Develop a GUI-based system for easy interaction and usability.</a:t>
            </a:r>
          </a:p>
          <a:p>
            <a:pPr marL="0" indent="0">
              <a:lnSpc>
                <a:spcPct val="150000"/>
              </a:lnSpc>
              <a:buNone/>
            </a:pPr>
            <a:endParaRPr lang="en-US" sz="2000" b="1"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9FF8CCF3-03FC-4781-AF3F-1B92FBD7E604}" type="datetime1">
              <a:rPr lang="en-IN" smtClean="0">
                <a:latin typeface="Times New Roman" panose="02020603050405020304" pitchFamily="18" charset="0"/>
                <a:cs typeface="Times New Roman" panose="02020603050405020304" pitchFamily="18" charset="0"/>
              </a:rPr>
              <a:t>10-04-2026</a:t>
            </a:fld>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Batch No. 12  Department of Cyber Security</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10</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02050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009409" y="546279"/>
            <a:ext cx="10173182" cy="1128009"/>
          </a:xfrm>
        </p:spPr>
        <p:txBody>
          <a:bodyPr/>
          <a:lstStyle/>
          <a:p>
            <a:pPr algn="ctr"/>
            <a:r>
              <a:rPr lang="en-US" b="1" dirty="0">
                <a:latin typeface="Times New Roman" panose="02020603050405020304" pitchFamily="18" charset="0"/>
                <a:cs typeface="Times New Roman" panose="02020603050405020304" pitchFamily="18" charset="0"/>
              </a:rPr>
              <a:t>RESEARCH GAPS</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605287" y="1493134"/>
            <a:ext cx="10515600" cy="5001489"/>
          </a:xfrm>
        </p:spPr>
        <p:txBody>
          <a:bodyPr>
            <a:noAutofit/>
          </a:bodyPr>
          <a:lstStyle/>
          <a:p>
            <a:pPr marL="0" indent="0">
              <a:lnSpc>
                <a:spcPct val="150000"/>
              </a:lnSpc>
              <a:buNone/>
            </a:pPr>
            <a:r>
              <a:rPr lang="en-US" sz="2000" dirty="0">
                <a:latin typeface="Times New Roman" panose="02020603050405020304" pitchFamily="18" charset="0"/>
                <a:cs typeface="Times New Roman" panose="02020603050405020304" pitchFamily="18" charset="0"/>
              </a:rPr>
              <a:t>The proposed system effectively addresses major research gaps by providing a </a:t>
            </a:r>
            <a:r>
              <a:rPr lang="en-US" sz="2000" b="1" dirty="0">
                <a:latin typeface="Times New Roman" panose="02020603050405020304" pitchFamily="18" charset="0"/>
                <a:cs typeface="Times New Roman" panose="02020603050405020304" pitchFamily="18" charset="0"/>
              </a:rPr>
              <a:t>hybrid, efficient, and real-time anomaly detection solution</a:t>
            </a:r>
            <a:r>
              <a:rPr lang="en-US" sz="2000" dirty="0">
                <a:latin typeface="Times New Roman" panose="02020603050405020304" pitchFamily="18" charset="0"/>
                <a:cs typeface="Times New Roman" panose="02020603050405020304" pitchFamily="18" charset="0"/>
              </a:rPr>
              <a:t>. It improves accuracy, reduces false positives, and ensures scalability, making it more suitable for practical network security applications compared to existing methods.</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07513AD7-9916-4F43-A67E-5BA92C35071A}" type="datetime1">
              <a:rPr lang="en-IN" smtClean="0">
                <a:latin typeface="Times New Roman" panose="02020603050405020304" pitchFamily="18" charset="0"/>
                <a:cs typeface="Times New Roman" panose="02020603050405020304" pitchFamily="18" charset="0"/>
              </a:rPr>
              <a:t>10-04-2026</a:t>
            </a:fld>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Batch No. 12  Department of Cyber Security</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11</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25866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009409" y="451389"/>
            <a:ext cx="10173182" cy="1128009"/>
          </a:xfrm>
        </p:spPr>
        <p:txBody>
          <a:bodyPr/>
          <a:lstStyle/>
          <a:p>
            <a:pPr algn="ctr"/>
            <a:r>
              <a:rPr lang="en-US" b="1" dirty="0">
                <a:latin typeface="Times New Roman" panose="02020603050405020304" pitchFamily="18" charset="0"/>
                <a:cs typeface="Times New Roman" panose="02020603050405020304" pitchFamily="18" charset="0"/>
              </a:rPr>
              <a:t>PROBLEM STATEMENT</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1087709" y="1493134"/>
            <a:ext cx="10515600" cy="5004647"/>
          </a:xfrm>
        </p:spPr>
        <p:txBody>
          <a:bodyPr>
            <a:normAutofit/>
          </a:bodyPr>
          <a:lstStyle/>
          <a:p>
            <a:pPr>
              <a:lnSpc>
                <a:spcPct val="150000"/>
              </a:lnSpc>
            </a:pPr>
            <a:r>
              <a:rPr lang="en-US" sz="2000" dirty="0"/>
              <a:t>With the increasing use of digital communication, protecting sensitive information has become a major challenge. Existing systems primarily rely on either encryption or steganography, but not both. Encryption techniques secure the data by converting it into an unreadable format; however, the presence of encrypted data itself can attract attackers. On the other hand, steganography hides data within images or other media, but if the hidden data is detected, it can be easily extracted due to the lack of strong encryption.</a:t>
            </a:r>
          </a:p>
          <a:p>
            <a:pPr>
              <a:lnSpc>
                <a:spcPct val="150000"/>
              </a:lnSpc>
            </a:pPr>
            <a:r>
              <a:rPr lang="en-US" sz="2000" dirty="0"/>
              <a:t>Another major issue with existing systems is the absence of proper data integrity mechanisms. Many systems do not verify whether the data has been modified during transmission, making them vulnerable to tampering and unauthorized access.</a:t>
            </a:r>
            <a:endParaRPr 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49A8FE94-7A48-4C57-820F-A0D60CE82F14}" type="datetime1">
              <a:rPr lang="en-IN" smtClean="0">
                <a:latin typeface="Times New Roman" panose="02020603050405020304" pitchFamily="18" charset="0"/>
                <a:cs typeface="Times New Roman" panose="02020603050405020304" pitchFamily="18" charset="0"/>
              </a:rPr>
              <a:t>10-04-2026</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Batch No. 12  Department of Cyber Security</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12</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97380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009409" y="675369"/>
            <a:ext cx="10173182" cy="409315"/>
          </a:xfrm>
        </p:spPr>
        <p:txBody>
          <a:bodyPr>
            <a:noAutofit/>
          </a:bodyPr>
          <a:lstStyle/>
          <a:p>
            <a:pPr algn="ctr"/>
            <a:r>
              <a:rPr lang="en-US" b="1" dirty="0">
                <a:latin typeface="Times New Roman" panose="02020603050405020304" pitchFamily="18" charset="0"/>
                <a:cs typeface="Times New Roman" panose="02020603050405020304" pitchFamily="18" charset="0"/>
              </a:rPr>
              <a:t>OBJECTIVES</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E089F5A6-F693-41A7-ABBB-AA8ED76A65EF}" type="datetime1">
              <a:rPr lang="en-IN" smtClean="0">
                <a:latin typeface="Times New Roman" panose="02020603050405020304" pitchFamily="18" charset="0"/>
                <a:cs typeface="Times New Roman" panose="02020603050405020304" pitchFamily="18" charset="0"/>
              </a:rPr>
              <a:t>10-04-2026</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Batch No. 12  Department of Cyber Security</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13</a:t>
            </a:fld>
            <a:endParaRPr lang="en-US">
              <a:latin typeface="Times New Roman" panose="02020603050405020304" pitchFamily="18" charset="0"/>
              <a:cs typeface="Times New Roman" panose="02020603050405020304" pitchFamily="18" charset="0"/>
            </a:endParaRPr>
          </a:p>
        </p:txBody>
      </p:sp>
      <p:sp>
        <p:nvSpPr>
          <p:cNvPr id="17" name="Rectangle 11"/>
          <p:cNvSpPr>
            <a:spLocks noGrp="1" noChangeArrowheads="1"/>
          </p:cNvSpPr>
          <p:nvPr>
            <p:ph idx="1"/>
          </p:nvPr>
        </p:nvSpPr>
        <p:spPr bwMode="auto">
          <a:xfrm>
            <a:off x="880482" y="1274064"/>
            <a:ext cx="10473318" cy="4582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000" dirty="0"/>
              <a:t>The primary objective of this project is to develop a secure Dual Layer Steganography system that ensures safe and hidden transmission of sensitive information.</a:t>
            </a:r>
          </a:p>
          <a:p>
            <a:pPr>
              <a:lnSpc>
                <a:spcPct val="150000"/>
              </a:lnSpc>
            </a:pPr>
            <a:r>
              <a:rPr lang="en-US" sz="2000" dirty="0"/>
              <a:t>The system aims to combine cryptography and steganography techniques to provide enhanced security compared to traditional single-layer approaches.</a:t>
            </a:r>
          </a:p>
          <a:p>
            <a:pPr>
              <a:lnSpc>
                <a:spcPct val="150000"/>
              </a:lnSpc>
            </a:pPr>
            <a:r>
              <a:rPr lang="en-US" sz="2000" dirty="0">
                <a:latin typeface="Times New Roman" panose="02020603050405020304" pitchFamily="18" charset="0"/>
                <a:cs typeface="Times New Roman" panose="02020603050405020304" pitchFamily="18" charset="0"/>
              </a:rPr>
              <a:t> </a:t>
            </a:r>
            <a:r>
              <a:rPr lang="en-US" sz="2000" dirty="0"/>
              <a:t>By encrypting the message using AES before embedding it into an image, system ensures that                                                            the data remains protected even if it is detected.</a:t>
            </a: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dirty="0"/>
              <a:t>Another objective is to ensure data integrity and reliability by incorporating SHA-256 based authentication. The overall goal is to create an efficient, secure, and practical solution for real-world applications  such as secure communication, data protection, and digital watermarking.</a:t>
            </a:r>
            <a:endPar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1237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593B3-CC04-E7BF-AA75-1E445628E81C}"/>
              </a:ext>
            </a:extLst>
          </p:cNvPr>
          <p:cNvSpPr>
            <a:spLocks noGrp="1"/>
          </p:cNvSpPr>
          <p:nvPr>
            <p:ph type="title"/>
          </p:nvPr>
        </p:nvSpPr>
        <p:spPr>
          <a:xfrm>
            <a:off x="990282" y="122800"/>
            <a:ext cx="10515600" cy="1325563"/>
          </a:xfrm>
        </p:spPr>
        <p:txBody>
          <a:bodyPr>
            <a:normAutofit/>
          </a:bodyPr>
          <a:lstStyle/>
          <a:p>
            <a:r>
              <a:rPr lang="en-IN" sz="4000" b="1" dirty="0">
                <a:latin typeface="Times New Roman" panose="02020603050405020304" pitchFamily="18" charset="0"/>
                <a:cs typeface="Times New Roman" panose="02020603050405020304" pitchFamily="18" charset="0"/>
              </a:rPr>
              <a:t>BLOCK DIAGRAM AND </a:t>
            </a:r>
            <a:r>
              <a:rPr lang="en-IN" b="1" dirty="0">
                <a:latin typeface="Times New Roman" panose="02020603050405020304" pitchFamily="18" charset="0"/>
                <a:cs typeface="Times New Roman" panose="02020603050405020304" pitchFamily="18" charset="0"/>
              </a:rPr>
              <a:t>FLOW</a:t>
            </a:r>
            <a:r>
              <a:rPr lang="en-IN" sz="4000" b="1" dirty="0">
                <a:latin typeface="Times New Roman" panose="02020603050405020304" pitchFamily="18" charset="0"/>
                <a:cs typeface="Times New Roman" panose="02020603050405020304" pitchFamily="18" charset="0"/>
              </a:rPr>
              <a:t> CHART</a:t>
            </a:r>
          </a:p>
        </p:txBody>
      </p:sp>
      <p:sp>
        <p:nvSpPr>
          <p:cNvPr id="3" name="Content Placeholder 2">
            <a:extLst>
              <a:ext uri="{FF2B5EF4-FFF2-40B4-BE49-F238E27FC236}">
                <a16:creationId xmlns:a16="http://schemas.microsoft.com/office/drawing/2014/main" id="{76C43EFA-A625-F845-FFA2-CF7B580F2B07}"/>
              </a:ext>
            </a:extLst>
          </p:cNvPr>
          <p:cNvSpPr>
            <a:spLocks noGrp="1"/>
          </p:cNvSpPr>
          <p:nvPr>
            <p:ph idx="1"/>
          </p:nvPr>
        </p:nvSpPr>
        <p:spPr>
          <a:xfrm>
            <a:off x="716902" y="1423687"/>
            <a:ext cx="10636898" cy="4909742"/>
          </a:xfrm>
        </p:spPr>
        <p:txBody>
          <a:bodyPr>
            <a:normAutofit/>
          </a:bodyPr>
          <a:lstStyle/>
          <a:p>
            <a:pPr marL="0" indent="0">
              <a:buNone/>
            </a:pPr>
            <a:r>
              <a:rPr lang="en-IN" sz="24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This flowchart illustrates </a:t>
            </a:r>
            <a:r>
              <a:rPr lang="en-US" sz="2000" dirty="0" err="1">
                <a:latin typeface="Times New Roman" panose="02020603050405020304" pitchFamily="18" charset="0"/>
                <a:cs typeface="Times New Roman" panose="02020603050405020304" pitchFamily="18" charset="0"/>
              </a:rPr>
              <a:t>theDual</a:t>
            </a:r>
            <a:r>
              <a:rPr lang="en-US" sz="2000" dirty="0">
                <a:latin typeface="Times New Roman" panose="02020603050405020304" pitchFamily="18" charset="0"/>
                <a:cs typeface="Times New Roman" panose="02020603050405020304" pitchFamily="18" charset="0"/>
              </a:rPr>
              <a:t> layer </a:t>
            </a:r>
            <a:r>
              <a:rPr lang="en-US" sz="2000" dirty="0" err="1">
                <a:latin typeface="Times New Roman" panose="02020603050405020304" pitchFamily="18" charset="0"/>
                <a:cs typeface="Times New Roman" panose="02020603050405020304" pitchFamily="18" charset="0"/>
              </a:rPr>
              <a:t>stegnography</a:t>
            </a:r>
            <a:r>
              <a:rPr lang="en-US" sz="2000" dirty="0">
                <a:latin typeface="Times New Roman" panose="02020603050405020304" pitchFamily="18" charset="0"/>
                <a:cs typeface="Times New Roman" panose="02020603050405020304" pitchFamily="18" charset="0"/>
              </a:rPr>
              <a:t> used in</a:t>
            </a:r>
          </a:p>
          <a:p>
            <a:pPr marL="0" indent="0">
              <a:buNone/>
            </a:pPr>
            <a:r>
              <a:rPr lang="en-US" sz="2000" dirty="0">
                <a:latin typeface="Times New Roman" panose="02020603050405020304" pitchFamily="18" charset="0"/>
                <a:cs typeface="Times New Roman" panose="02020603050405020304" pitchFamily="18" charset="0"/>
              </a:rPr>
              <a:t>  the system. </a:t>
            </a:r>
          </a:p>
          <a:p>
            <a:pPr marL="0" indent="0">
              <a:buNone/>
            </a:pPr>
            <a:r>
              <a:rPr lang="en-IN" sz="2000" b="1" dirty="0">
                <a:latin typeface="Times New Roman" panose="02020603050405020304" pitchFamily="18" charset="0"/>
                <a:cs typeface="Times New Roman" panose="02020603050405020304" pitchFamily="18" charset="0"/>
              </a:rPr>
              <a:t> KEY STEPS:</a:t>
            </a:r>
          </a:p>
          <a:p>
            <a:r>
              <a:rPr lang="en-US" sz="2000" dirty="0">
                <a:latin typeface="Times New Roman" panose="02020603050405020304" pitchFamily="18" charset="0"/>
                <a:cs typeface="Times New Roman" panose="02020603050405020304" pitchFamily="18" charset="0"/>
              </a:rPr>
              <a:t>Secret Message</a:t>
            </a:r>
          </a:p>
          <a:p>
            <a:r>
              <a:rPr lang="en-US" sz="2000" dirty="0">
                <a:latin typeface="Times New Roman" panose="02020603050405020304" pitchFamily="18" charset="0"/>
                <a:cs typeface="Times New Roman" panose="02020603050405020304" pitchFamily="18" charset="0"/>
              </a:rPr>
              <a:t>Image Selection</a:t>
            </a:r>
          </a:p>
          <a:p>
            <a:r>
              <a:rPr lang="en-US" sz="2000" dirty="0">
                <a:latin typeface="Times New Roman" panose="02020603050405020304" pitchFamily="18" charset="0"/>
                <a:cs typeface="Times New Roman" panose="02020603050405020304" pitchFamily="18" charset="0"/>
              </a:rPr>
              <a:t>SHA-256 Authentication</a:t>
            </a:r>
          </a:p>
          <a:p>
            <a:r>
              <a:rPr lang="en-US" sz="2000" dirty="0">
                <a:latin typeface="Times New Roman" panose="02020603050405020304" pitchFamily="18" charset="0"/>
                <a:cs typeface="Times New Roman" panose="02020603050405020304" pitchFamily="18" charset="0"/>
              </a:rPr>
              <a:t>Encryption using ( LSB + AES )</a:t>
            </a:r>
          </a:p>
          <a:p>
            <a:pPr marL="0" indent="0">
              <a:buNone/>
            </a:pPr>
            <a:r>
              <a:rPr lang="en-IN" sz="2000" b="1" dirty="0">
                <a:latin typeface="Times New Roman" panose="02020603050405020304" pitchFamily="18" charset="0"/>
                <a:cs typeface="Times New Roman" panose="02020603050405020304" pitchFamily="18" charset="0"/>
              </a:rPr>
              <a:t>BENEFITS:</a:t>
            </a:r>
          </a:p>
          <a:p>
            <a:r>
              <a:rPr lang="en-IN" sz="2000" dirty="0"/>
              <a:t>Provides </a:t>
            </a:r>
            <a:r>
              <a:rPr lang="en-IN" sz="2000" b="1" dirty="0"/>
              <a:t>dual-layer security</a:t>
            </a:r>
          </a:p>
          <a:p>
            <a:r>
              <a:rPr lang="en-US" sz="2000" dirty="0"/>
              <a:t>Hides data </a:t>
            </a:r>
            <a:r>
              <a:rPr lang="en-US" sz="2000" b="1" dirty="0"/>
              <a:t>without visible changes</a:t>
            </a:r>
            <a:r>
              <a:rPr lang="en-IN" sz="2000" dirty="0">
                <a:latin typeface="Times New Roman" panose="02020603050405020304" pitchFamily="18" charset="0"/>
                <a:cs typeface="Times New Roman" panose="02020603050405020304" pitchFamily="18" charset="0"/>
              </a:rPr>
              <a:t>.</a:t>
            </a:r>
          </a:p>
          <a:p>
            <a:r>
              <a:rPr lang="en-US" sz="2000" dirty="0"/>
              <a:t>Low cost using </a:t>
            </a:r>
            <a:r>
              <a:rPr lang="en-US" sz="2000" b="1" dirty="0"/>
              <a:t>open-source tools.</a:t>
            </a:r>
            <a:endParaRPr lang="en-IN" sz="20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C43F7DB-7636-07E3-AD3D-F5E0F95222FF}"/>
              </a:ext>
            </a:extLst>
          </p:cNvPr>
          <p:cNvSpPr>
            <a:spLocks noGrp="1"/>
          </p:cNvSpPr>
          <p:nvPr>
            <p:ph type="dt" sz="half" idx="10"/>
          </p:nvPr>
        </p:nvSpPr>
        <p:spPr/>
        <p:txBody>
          <a:bodyPr/>
          <a:lstStyle/>
          <a:p>
            <a:fld id="{98663B44-B982-4074-9056-5E40B5BDF536}" type="datetime1">
              <a:rPr lang="en-IN" smtClean="0"/>
              <a:t>10-04-2026</a:t>
            </a:fld>
            <a:endParaRPr lang="en-IN"/>
          </a:p>
        </p:txBody>
      </p:sp>
      <p:sp>
        <p:nvSpPr>
          <p:cNvPr id="5" name="Footer Placeholder 4">
            <a:extLst>
              <a:ext uri="{FF2B5EF4-FFF2-40B4-BE49-F238E27FC236}">
                <a16:creationId xmlns:a16="http://schemas.microsoft.com/office/drawing/2014/main" id="{03936C2C-E51D-6E7F-F4B4-911E8BE847B9}"/>
              </a:ext>
            </a:extLst>
          </p:cNvPr>
          <p:cNvSpPr>
            <a:spLocks noGrp="1"/>
          </p:cNvSpPr>
          <p:nvPr>
            <p:ph type="ftr" sz="quarter" idx="11"/>
          </p:nvPr>
        </p:nvSpPr>
        <p:spPr/>
        <p:txBody>
          <a:bodyPr/>
          <a:lstStyle/>
          <a:p>
            <a:r>
              <a:rPr lang="en-US" dirty="0"/>
              <a:t>Batch No. 12  Department of Cyber Security</a:t>
            </a:r>
            <a:endParaRPr lang="en-IN" dirty="0"/>
          </a:p>
        </p:txBody>
      </p:sp>
      <p:sp>
        <p:nvSpPr>
          <p:cNvPr id="6" name="Slide Number Placeholder 5">
            <a:extLst>
              <a:ext uri="{FF2B5EF4-FFF2-40B4-BE49-F238E27FC236}">
                <a16:creationId xmlns:a16="http://schemas.microsoft.com/office/drawing/2014/main" id="{F86D83F0-81E3-6D1E-F568-4B09E40A09F2}"/>
              </a:ext>
            </a:extLst>
          </p:cNvPr>
          <p:cNvSpPr>
            <a:spLocks noGrp="1"/>
          </p:cNvSpPr>
          <p:nvPr>
            <p:ph type="sldNum" sz="quarter" idx="12"/>
          </p:nvPr>
        </p:nvSpPr>
        <p:spPr/>
        <p:txBody>
          <a:bodyPr/>
          <a:lstStyle/>
          <a:p>
            <a:fld id="{65DCBD69-296B-4D7C-AF62-9B588FC78772}" type="slidenum">
              <a:rPr lang="en-IN" smtClean="0"/>
              <a:t>14</a:t>
            </a:fld>
            <a:endParaRPr lang="en-IN"/>
          </a:p>
        </p:txBody>
      </p:sp>
      <p:sp>
        <p:nvSpPr>
          <p:cNvPr id="7" name="AutoShape 2" descr="Output image">
            <a:extLst>
              <a:ext uri="{FF2B5EF4-FFF2-40B4-BE49-F238E27FC236}">
                <a16:creationId xmlns:a16="http://schemas.microsoft.com/office/drawing/2014/main" id="{39FFE4DF-1F44-123A-0482-2D1B2FA7A43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TextBox 11">
            <a:extLst>
              <a:ext uri="{FF2B5EF4-FFF2-40B4-BE49-F238E27FC236}">
                <a16:creationId xmlns:a16="http://schemas.microsoft.com/office/drawing/2014/main" id="{AB0432F1-CCDC-FE2B-CE01-6E7700E2F1C5}"/>
              </a:ext>
            </a:extLst>
          </p:cNvPr>
          <p:cNvSpPr txBox="1"/>
          <p:nvPr/>
        </p:nvSpPr>
        <p:spPr>
          <a:xfrm>
            <a:off x="7212562" y="662472"/>
            <a:ext cx="4598437" cy="246221"/>
          </a:xfrm>
          <a:prstGeom prst="rect">
            <a:avLst/>
          </a:prstGeom>
          <a:noFill/>
        </p:spPr>
        <p:txBody>
          <a:bodyPr wrap="square">
            <a:spAutoFit/>
          </a:bodyPr>
          <a:lstStyle/>
          <a:p>
            <a:endParaRPr lang="en-IN" sz="1000"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rcRect/>
          <a:stretch/>
        </p:blipFill>
        <p:spPr>
          <a:xfrm>
            <a:off x="8144972" y="1471284"/>
            <a:ext cx="2963381" cy="4459365"/>
          </a:xfrm>
          <a:prstGeom prst="rect">
            <a:avLst/>
          </a:prstGeom>
        </p:spPr>
      </p:pic>
    </p:spTree>
    <p:extLst>
      <p:ext uri="{BB962C8B-B14F-4D97-AF65-F5344CB8AC3E}">
        <p14:creationId xmlns:p14="http://schemas.microsoft.com/office/powerpoint/2010/main" val="39005579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009409" y="261608"/>
            <a:ext cx="10173182" cy="1128009"/>
          </a:xfrm>
        </p:spPr>
        <p:txBody>
          <a:bodyPr/>
          <a:lstStyle/>
          <a:p>
            <a:pPr algn="ctr"/>
            <a:r>
              <a:rPr lang="en-US" b="1" dirty="0">
                <a:latin typeface="Times New Roman" panose="02020603050405020304" pitchFamily="18" charset="0"/>
                <a:cs typeface="Times New Roman" panose="02020603050405020304" pitchFamily="18" charset="0"/>
              </a:rPr>
              <a:t>METHODOLOGY</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908957" y="1389617"/>
            <a:ext cx="10374086" cy="4486708"/>
          </a:xfrm>
        </p:spPr>
        <p:txBody>
          <a:bodyPr>
            <a:normAutofit fontScale="85000" lnSpcReduction="10000"/>
          </a:bodyPr>
          <a:lstStyle/>
          <a:p>
            <a:pPr>
              <a:lnSpc>
                <a:spcPct val="120000"/>
              </a:lnSpc>
            </a:pPr>
            <a:r>
              <a:rPr lang="en-US" sz="2400" dirty="0"/>
              <a:t>The methodology of the proposed Dual Layer Steganography system follows a systematic approach to ensure secure data transmission through encryption and data hiding techniques</a:t>
            </a:r>
          </a:p>
          <a:p>
            <a:pPr>
              <a:lnSpc>
                <a:spcPct val="120000"/>
              </a:lnSpc>
            </a:pPr>
            <a:r>
              <a:rPr lang="en-US" sz="2400" dirty="0"/>
              <a:t>The process begins with user input, where the plaintext message, password, and cover image are provided through a graphical user interface. The message is first encrypted using the AES algorithm, and a secure key is generated from the password using SHA-256 hashing to ensure confidentiality</a:t>
            </a:r>
            <a:r>
              <a:rPr lang="en-US" sz="2400" dirty="0">
                <a:latin typeface="Times New Roman" panose="02020603050405020304" pitchFamily="18" charset="0"/>
                <a:cs typeface="Times New Roman" panose="02020603050405020304" pitchFamily="18" charset="0"/>
              </a:rPr>
              <a:t>.</a:t>
            </a:r>
          </a:p>
          <a:p>
            <a:pPr>
              <a:lnSpc>
                <a:spcPct val="120000"/>
              </a:lnSpc>
            </a:pPr>
            <a:r>
              <a:rPr lang="en-US" sz="2400" dirty="0"/>
              <a:t>After encryption, the system generates a SHA-256 hash of the encrypted data to maintain data integrity. The encrypted message along with the hash is structured and converted into binary format. </a:t>
            </a:r>
          </a:p>
          <a:p>
            <a:pPr>
              <a:lnSpc>
                <a:spcPct val="120000"/>
              </a:lnSpc>
            </a:pPr>
            <a:r>
              <a:rPr lang="en-US" sz="2400" dirty="0"/>
              <a:t>This binary data is then embedded into the selected image using either LSB (spatial domain) or DCT (frequency domain) steganography techniques.</a:t>
            </a:r>
          </a:p>
          <a:p>
            <a:pPr marL="0" indent="0">
              <a:lnSpc>
                <a:spcPct val="120000"/>
              </a:lnSpc>
              <a:buNone/>
            </a:pPr>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0A8FECBD-E3AF-4958-8847-4B13651036CA}" type="datetime1">
              <a:rPr lang="en-IN" smtClean="0">
                <a:latin typeface="Times New Roman" panose="02020603050405020304" pitchFamily="18" charset="0"/>
                <a:cs typeface="Times New Roman" panose="02020603050405020304" pitchFamily="18" charset="0"/>
              </a:rPr>
              <a:t>10-04-2026</a:t>
            </a:fld>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Batch No. 12  Department of Cyber Security</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15</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85765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96983"/>
            <a:ext cx="10173182" cy="1416048"/>
          </a:xfrm>
        </p:spPr>
        <p:txBody>
          <a:bodyPr/>
          <a:lstStyle/>
          <a:p>
            <a:pPr algn="ctr"/>
            <a:r>
              <a:rPr lang="en-US" b="1" dirty="0">
                <a:latin typeface="Times New Roman" panose="02020603050405020304" pitchFamily="18" charset="0"/>
                <a:cs typeface="Times New Roman" panose="02020603050405020304" pitchFamily="18" charset="0"/>
              </a:rPr>
              <a:t>METHODOLOGY</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788726" y="1246909"/>
            <a:ext cx="10956966" cy="4364182"/>
          </a:xfrm>
        </p:spPr>
        <p:txBody>
          <a:bodyPr>
            <a:noAutofit/>
          </a:bodyPr>
          <a:lstStyle/>
          <a:p>
            <a:pPr marL="0" indent="0" algn="just">
              <a:lnSpc>
                <a:spcPct val="100000"/>
              </a:lnSpc>
              <a:buNone/>
            </a:pPr>
            <a:r>
              <a:rPr lang="en-US" sz="2000" b="1" dirty="0">
                <a:latin typeface="Times New Roman" panose="02020603050405020304" pitchFamily="18" charset="0"/>
                <a:cs typeface="Times New Roman" panose="02020603050405020304" pitchFamily="18" charset="0"/>
              </a:rPr>
              <a:t>Framework Used</a:t>
            </a:r>
            <a:r>
              <a:rPr lang="en-US" sz="2000" dirty="0">
                <a:latin typeface="Times New Roman" panose="02020603050405020304" pitchFamily="18" charset="0"/>
                <a:cs typeface="Times New Roman" panose="02020603050405020304" pitchFamily="18" charset="0"/>
              </a:rPr>
              <a:t>:</a:t>
            </a:r>
          </a:p>
          <a:p>
            <a:pPr marL="0" indent="0">
              <a:lnSpc>
                <a:spcPct val="100000"/>
              </a:lnSpc>
              <a:buNone/>
            </a:pPr>
            <a:r>
              <a:rPr lang="en-US" sz="2000" dirty="0">
                <a:latin typeface="Times New Roman" panose="02020603050405020304" pitchFamily="18" charset="0"/>
                <a:cs typeface="Times New Roman" panose="02020603050405020304" pitchFamily="18" charset="0"/>
              </a:rPr>
              <a:t>• </a:t>
            </a:r>
            <a:r>
              <a:rPr lang="en-US" sz="2000" b="1" dirty="0"/>
              <a:t>Cryptography Library</a:t>
            </a:r>
            <a:r>
              <a:rPr lang="en-US" sz="2000" dirty="0"/>
              <a:t> – Implements AES encryption and decryption</a:t>
            </a:r>
          </a:p>
          <a:p>
            <a:pPr marL="0" indent="0">
              <a:lnSpc>
                <a:spcPct val="100000"/>
              </a:lnSpc>
              <a:buNone/>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Python</a:t>
            </a:r>
            <a:r>
              <a:rPr lang="en-US" sz="2000" dirty="0">
                <a:latin typeface="Times New Roman" panose="02020603050405020304" pitchFamily="18" charset="0"/>
                <a:cs typeface="Times New Roman" panose="02020603050405020304" pitchFamily="18" charset="0"/>
              </a:rPr>
              <a:t> – The primary programming language used for implementing the system, handling data processing, and integrating all modules.</a:t>
            </a:r>
          </a:p>
          <a:p>
            <a:pPr marL="0" indent="0">
              <a:lnSpc>
                <a:spcPct val="100000"/>
              </a:lnSpc>
              <a:buNone/>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NumPy</a:t>
            </a:r>
            <a:r>
              <a:rPr lang="en-US" sz="2000" dirty="0">
                <a:latin typeface="Times New Roman" panose="02020603050405020304" pitchFamily="18" charset="0"/>
                <a:cs typeface="Times New Roman" panose="02020603050405020304" pitchFamily="18" charset="0"/>
              </a:rPr>
              <a:t> – Used for data manipulation, cleaning, and efficient numerical computations during preprocessing and analysis.</a:t>
            </a:r>
          </a:p>
          <a:p>
            <a:pPr>
              <a:lnSpc>
                <a:spcPct val="100000"/>
              </a:lnSpc>
            </a:pPr>
            <a:r>
              <a:rPr lang="en-US" sz="2000" b="1" dirty="0"/>
              <a:t>OpenCV</a:t>
            </a:r>
            <a:r>
              <a:rPr lang="en-US" sz="2000" dirty="0"/>
              <a:t> – Handles image processing and DCT operations</a:t>
            </a:r>
            <a:endParaRPr lang="en-US" sz="2000" dirty="0">
              <a:latin typeface="Times New Roman" panose="02020603050405020304" pitchFamily="18" charset="0"/>
              <a:cs typeface="Times New Roman" panose="02020603050405020304" pitchFamily="18" charset="0"/>
            </a:endParaRPr>
          </a:p>
          <a:p>
            <a:pPr>
              <a:lnSpc>
                <a:spcPct val="100000"/>
              </a:lnSpc>
            </a:pPr>
            <a:r>
              <a:rPr lang="en-US" sz="2000" b="1" dirty="0"/>
              <a:t>Pillow (PIL)</a:t>
            </a:r>
            <a:r>
              <a:rPr lang="en-US" sz="2000" dirty="0"/>
              <a:t> – Used for image loading, editing, and saving</a:t>
            </a:r>
          </a:p>
          <a:p>
            <a:pPr marL="0" indent="0">
              <a:lnSpc>
                <a:spcPct val="100000"/>
              </a:lnSpc>
              <a:buNone/>
            </a:pPr>
            <a:r>
              <a:rPr lang="en-US" sz="2000" dirty="0">
                <a:latin typeface="Times New Roman" panose="02020603050405020304" pitchFamily="18" charset="0"/>
                <a:cs typeface="Times New Roman" panose="02020603050405020304" pitchFamily="18" charset="0"/>
              </a:rPr>
              <a:t>• </a:t>
            </a:r>
            <a:r>
              <a:rPr lang="en-IN" sz="2000" b="1" dirty="0" err="1"/>
              <a:t>Tkinter</a:t>
            </a:r>
            <a:r>
              <a:rPr lang="en-IN" sz="2000" dirty="0"/>
              <a:t> – Provides graphical user interface for user interaction</a:t>
            </a:r>
            <a:endParaRPr lang="en-US" sz="24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C4CAF3C9-B877-466E-BFE5-BA9501664473}" type="datetime1">
              <a:rPr lang="en-IN" smtClean="0">
                <a:latin typeface="Times New Roman" panose="02020603050405020304" pitchFamily="18" charset="0"/>
                <a:cs typeface="Times New Roman" panose="02020603050405020304" pitchFamily="18" charset="0"/>
              </a:rPr>
              <a:t>10-04-2026</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Batch No. 12  Department of Cyber Security</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16</a:t>
            </a:fld>
            <a:endParaRPr lang="en-US">
              <a:latin typeface="Times New Roman" panose="02020603050405020304" pitchFamily="18" charset="0"/>
              <a:cs typeface="Times New Roman" panose="02020603050405020304" pitchFamily="18" charset="0"/>
            </a:endParaRPr>
          </a:p>
        </p:txBody>
      </p:sp>
      <p:sp>
        <p:nvSpPr>
          <p:cNvPr id="10" name="Rectangle 4">
            <a:extLst>
              <a:ext uri="{FF2B5EF4-FFF2-40B4-BE49-F238E27FC236}">
                <a16:creationId xmlns:a16="http://schemas.microsoft.com/office/drawing/2014/main" id="{3232F336-9A05-FA48-1003-D27563FA3FD8}"/>
              </a:ext>
            </a:extLst>
          </p:cNvPr>
          <p:cNvSpPr>
            <a:spLocks noChangeArrowheads="1"/>
          </p:cNvSpPr>
          <p:nvPr/>
        </p:nvSpPr>
        <p:spPr bwMode="auto">
          <a:xfrm>
            <a:off x="1018015" y="3347541"/>
            <a:ext cx="264816" cy="4580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20079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268262" y="0"/>
            <a:ext cx="10173182" cy="1416048"/>
          </a:xfrm>
        </p:spPr>
        <p:txBody>
          <a:bodyPr/>
          <a:lstStyle/>
          <a:p>
            <a:pPr algn="ctr"/>
            <a:r>
              <a:rPr lang="en-US" b="1" dirty="0">
                <a:latin typeface="Times New Roman" panose="02020603050405020304" pitchFamily="18" charset="0"/>
                <a:cs typeface="Times New Roman" panose="02020603050405020304" pitchFamily="18" charset="0"/>
              </a:rPr>
              <a:t>METHODOLOGY</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961053" y="1219200"/>
            <a:ext cx="10787601" cy="4876800"/>
          </a:xfrm>
        </p:spPr>
        <p:txBody>
          <a:bodyPr>
            <a:noAutofit/>
          </a:bodyPr>
          <a:lstStyle/>
          <a:p>
            <a:pPr marL="457200" lvl="1" indent="0">
              <a:buNone/>
            </a:pPr>
            <a:r>
              <a:rPr lang="en-US" sz="2000" b="1" dirty="0">
                <a:latin typeface="Times New Roman" panose="02020603050405020304" pitchFamily="18" charset="0"/>
                <a:cs typeface="Times New Roman" panose="02020603050405020304" pitchFamily="18" charset="0"/>
              </a:rPr>
              <a:t>Algorithms</a:t>
            </a:r>
            <a:r>
              <a:rPr lang="en-US" sz="2000" dirty="0">
                <a:latin typeface="Times New Roman" panose="02020603050405020304" pitchFamily="18" charset="0"/>
                <a:cs typeface="Times New Roman" panose="02020603050405020304" pitchFamily="18" charset="0"/>
              </a:rPr>
              <a:t>:</a:t>
            </a:r>
          </a:p>
          <a:p>
            <a:pPr marL="457200" lvl="1" indent="0" algn="just">
              <a:buNone/>
            </a:pPr>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908341D2-BFE1-4759-8F7B-9B44A0A253CB}" type="datetime1">
              <a:rPr lang="en-IN" smtClean="0">
                <a:latin typeface="Times New Roman" panose="02020603050405020304" pitchFamily="18" charset="0"/>
                <a:cs typeface="Times New Roman" panose="02020603050405020304" pitchFamily="18" charset="0"/>
              </a:rPr>
              <a:t>10-04-2026</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Batch No. 12  Department of Cyber Security</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17</a:t>
            </a:fld>
            <a:endParaRPr lang="en-US">
              <a:latin typeface="Times New Roman" panose="02020603050405020304" pitchFamily="18" charset="0"/>
              <a:cs typeface="Times New Roman" panose="02020603050405020304" pitchFamily="18" charset="0"/>
            </a:endParaRPr>
          </a:p>
        </p:txBody>
      </p:sp>
      <p:sp>
        <p:nvSpPr>
          <p:cNvPr id="12" name="Rectangle 4">
            <a:extLst>
              <a:ext uri="{FF2B5EF4-FFF2-40B4-BE49-F238E27FC236}">
                <a16:creationId xmlns:a16="http://schemas.microsoft.com/office/drawing/2014/main" id="{09E1C1B1-C557-1E59-ADF3-050D50F7462F}"/>
              </a:ext>
            </a:extLst>
          </p:cNvPr>
          <p:cNvSpPr>
            <a:spLocks noChangeArrowheads="1"/>
          </p:cNvSpPr>
          <p:nvPr/>
        </p:nvSpPr>
        <p:spPr bwMode="auto">
          <a:xfrm>
            <a:off x="671804" y="2077857"/>
            <a:ext cx="11419268" cy="3453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b="1" dirty="0">
                <a:latin typeface="Times New Roman" panose="02020603050405020304" pitchFamily="18" charset="0"/>
                <a:cs typeface="Times New Roman" panose="02020603050405020304" pitchFamily="18" charset="0"/>
              </a:rPr>
              <a:t>AES (Advanced Encryption Standard)</a:t>
            </a:r>
          </a:p>
          <a:p>
            <a:r>
              <a:rPr lang="en-US" sz="2400" dirty="0">
                <a:latin typeface="Times New Roman" panose="02020603050405020304" pitchFamily="18" charset="0"/>
                <a:cs typeface="Times New Roman" panose="02020603050405020304" pitchFamily="18" charset="0"/>
              </a:rPr>
              <a:t>AES is used for encrypting the plaintext message into ciphertext before embedding. It ensures strong data security by using a secret key generated from the user’s password. This prevents unauthorized access to the hidden data even if it is extracted.</a:t>
            </a:r>
          </a:p>
          <a:p>
            <a:r>
              <a:rPr lang="en-US" sz="2400" b="1" dirty="0">
                <a:latin typeface="Times New Roman" panose="02020603050405020304" pitchFamily="18" charset="0"/>
                <a:cs typeface="Times New Roman" panose="02020603050405020304" pitchFamily="18" charset="0"/>
              </a:rPr>
              <a:t>LSB (Least Significant Bit) Steganography</a:t>
            </a:r>
          </a:p>
          <a:p>
            <a:r>
              <a:rPr lang="en-US" sz="2400" dirty="0">
                <a:latin typeface="Times New Roman" panose="02020603050405020304" pitchFamily="18" charset="0"/>
                <a:cs typeface="Times New Roman" panose="02020603050405020304" pitchFamily="18" charset="0"/>
              </a:rPr>
              <a:t>LSB is a spatial domain technique used to embed encrypted data into the least significant bits of image pixels. It provides high embedding capacity and fast processing while maintaining the visual quality of the image.</a:t>
            </a:r>
          </a:p>
          <a:p>
            <a:pPr marL="0" marR="0" lvl="0" indent="0" algn="l" defTabSz="914400" rtl="0" eaLnBrk="0" fontAlgn="base" latinLnBrk="0" hangingPunct="0">
              <a:lnSpc>
                <a:spcPct val="15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16883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598191" y="250826"/>
            <a:ext cx="10173182" cy="1416048"/>
          </a:xfrm>
        </p:spPr>
        <p:txBody>
          <a:bodyPr/>
          <a:lstStyle/>
          <a:p>
            <a:pPr algn="ctr"/>
            <a:r>
              <a:rPr lang="en-US" b="1" dirty="0">
                <a:latin typeface="Times New Roman" panose="02020603050405020304" pitchFamily="18" charset="0"/>
                <a:cs typeface="Times New Roman" panose="02020603050405020304" pitchFamily="18" charset="0"/>
              </a:rPr>
              <a:t>METHODOLOGY</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1026367" y="1219200"/>
            <a:ext cx="10722288" cy="4876800"/>
          </a:xfrm>
        </p:spPr>
        <p:txBody>
          <a:bodyPr>
            <a:noAutofit/>
          </a:bodyPr>
          <a:lstStyle/>
          <a:p>
            <a:pPr marL="0" indent="0" algn="just">
              <a:buNone/>
            </a:pPr>
            <a:r>
              <a:rPr lang="en-US" sz="2000" b="1" dirty="0">
                <a:latin typeface="Times New Roman" panose="02020603050405020304" pitchFamily="18" charset="0"/>
                <a:cs typeface="Times New Roman" panose="02020603050405020304" pitchFamily="18" charset="0"/>
              </a:rPr>
              <a:t> Tools Used</a:t>
            </a:r>
          </a:p>
          <a:p>
            <a:pPr marL="0" indent="0" algn="just">
              <a:buNone/>
            </a:pPr>
            <a:endParaRPr lang="en-US" b="1"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F49E08EC-5F95-4674-B987-E0582F06C7DA}" type="datetime1">
              <a:rPr lang="en-IN" smtClean="0">
                <a:latin typeface="Times New Roman" panose="02020603050405020304" pitchFamily="18" charset="0"/>
                <a:cs typeface="Times New Roman" panose="02020603050405020304" pitchFamily="18" charset="0"/>
              </a:rPr>
              <a:t>10-04-2026</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Batch No. 12  Department of Cyber Security</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18</a:t>
            </a:fld>
            <a:endParaRPr lang="en-US">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8EA4B03B-8D4E-6E0C-D25C-F899FDEB815E}"/>
              </a:ext>
            </a:extLst>
          </p:cNvPr>
          <p:cNvSpPr>
            <a:spLocks noChangeArrowheads="1"/>
          </p:cNvSpPr>
          <p:nvPr/>
        </p:nvSpPr>
        <p:spPr bwMode="auto">
          <a:xfrm>
            <a:off x="1180618" y="1727023"/>
            <a:ext cx="9008328"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Python</a:t>
            </a:r>
            <a:r>
              <a:rPr lang="en-US" sz="2400" dirty="0">
                <a:latin typeface="Times New Roman" panose="02020603050405020304" pitchFamily="18" charset="0"/>
                <a:cs typeface="Times New Roman" panose="02020603050405020304" pitchFamily="18" charset="0"/>
              </a:rPr>
              <a:t> – Main programming language used for developing the system and implementing detection logic.</a:t>
            </a:r>
          </a:p>
          <a:p>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VS Code / Jupiter Notebook</a:t>
            </a:r>
            <a:r>
              <a:rPr lang="en-US" sz="2400" dirty="0">
                <a:latin typeface="Times New Roman" panose="02020603050405020304" pitchFamily="18" charset="0"/>
                <a:cs typeface="Times New Roman" panose="02020603050405020304" pitchFamily="18" charset="0"/>
              </a:rPr>
              <a:t> – Used for coding, testing, and experimentation during development.</a:t>
            </a:r>
          </a:p>
          <a:p>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OpenCV</a:t>
            </a:r>
            <a:r>
              <a:rPr lang="en-US" sz="2400" dirty="0">
                <a:latin typeface="Times New Roman" panose="02020603050405020304" pitchFamily="18" charset="0"/>
                <a:cs typeface="Times New Roman" panose="02020603050405020304" pitchFamily="18" charset="0"/>
              </a:rPr>
              <a:t> – Used for image processing and handling image data</a:t>
            </a:r>
          </a:p>
          <a:p>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NumPy</a:t>
            </a:r>
            <a:r>
              <a:rPr lang="en-US" sz="2400" dirty="0">
                <a:latin typeface="Times New Roman" panose="02020603050405020304" pitchFamily="18" charset="0"/>
                <a:cs typeface="Times New Roman" panose="02020603050405020304" pitchFamily="18" charset="0"/>
              </a:rPr>
              <a:t> – Used for data cleaning, manipulation, and numerical computations.</a:t>
            </a:r>
          </a:p>
          <a:p>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Cryptography Library</a:t>
            </a:r>
            <a:r>
              <a:rPr lang="en-US" sz="2400" dirty="0">
                <a:latin typeface="Times New Roman" panose="02020603050405020304" pitchFamily="18" charset="0"/>
                <a:cs typeface="Times New Roman" panose="02020603050405020304" pitchFamily="18" charset="0"/>
              </a:rPr>
              <a:t> – Used for implementing AES encryption and decryption</a:t>
            </a:r>
          </a:p>
          <a:p>
            <a:r>
              <a:rPr lang="en-US"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Pillow (PIL)</a:t>
            </a:r>
            <a:r>
              <a:rPr lang="en-IN" sz="2400" dirty="0">
                <a:latin typeface="Times New Roman" panose="02020603050405020304" pitchFamily="18" charset="0"/>
                <a:cs typeface="Times New Roman" panose="02020603050405020304" pitchFamily="18" charset="0"/>
              </a:rPr>
              <a:t> – Used for image manipulation and format handling</a:t>
            </a:r>
          </a:p>
          <a:p>
            <a:pPr marL="285750" indent="-285750">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Tkinter</a:t>
            </a:r>
            <a:r>
              <a:rPr lang="en-US" sz="2400" dirty="0">
                <a:latin typeface="Times New Roman" panose="02020603050405020304" pitchFamily="18" charset="0"/>
                <a:cs typeface="Times New Roman" panose="02020603050405020304" pitchFamily="18" charset="0"/>
              </a:rPr>
              <a:t> – Used for designing the graphical user interface</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38570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838200" y="487400"/>
            <a:ext cx="10173182" cy="942108"/>
          </a:xfrm>
        </p:spPr>
        <p:txBody>
          <a:bodyPr/>
          <a:lstStyle/>
          <a:p>
            <a:pPr algn="ctr"/>
            <a:r>
              <a:rPr lang="en-US" b="1" dirty="0">
                <a:latin typeface="Times New Roman" panose="02020603050405020304" pitchFamily="18" charset="0"/>
                <a:cs typeface="Times New Roman" panose="02020603050405020304" pitchFamily="18" charset="0"/>
              </a:rPr>
              <a:t>METHODOLOGY</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C838E157-A6C9-4AEE-A88A-A57EAC80163D}" type="datetime1">
              <a:rPr lang="en-IN" smtClean="0">
                <a:latin typeface="Times New Roman" panose="02020603050405020304" pitchFamily="18" charset="0"/>
                <a:cs typeface="Times New Roman" panose="02020603050405020304" pitchFamily="18" charset="0"/>
              </a:rPr>
              <a:t>10-04-2026</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Batch No. 12  Department of Cyber Security</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19</a:t>
            </a:fld>
            <a:endParaRPr lang="en-US">
              <a:latin typeface="Times New Roman" panose="02020603050405020304" pitchFamily="18" charset="0"/>
              <a:cs typeface="Times New Roman" panose="02020603050405020304" pitchFamily="18" charset="0"/>
            </a:endParaRPr>
          </a:p>
        </p:txBody>
      </p:sp>
      <p:sp>
        <p:nvSpPr>
          <p:cNvPr id="12" name="TextBox 11"/>
          <p:cNvSpPr txBox="1"/>
          <p:nvPr/>
        </p:nvSpPr>
        <p:spPr>
          <a:xfrm>
            <a:off x="411480" y="1220169"/>
            <a:ext cx="699753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Parameter Settings (in Table Form)</a:t>
            </a:r>
            <a:endParaRPr lang="en-IN" sz="2000" dirty="0">
              <a:latin typeface="Times New Roman" panose="02020603050405020304" pitchFamily="18" charset="0"/>
              <a:cs typeface="Times New Roman" panose="02020603050405020304" pitchFamily="18" charset="0"/>
            </a:endParaRPr>
          </a:p>
        </p:txBody>
      </p:sp>
      <p:graphicFrame>
        <p:nvGraphicFramePr>
          <p:cNvPr id="2" name="Table 1"/>
          <p:cNvGraphicFramePr>
            <a:graphicFrameLocks noGrp="1"/>
          </p:cNvGraphicFramePr>
          <p:nvPr>
            <p:extLst>
              <p:ext uri="{D42A27DB-BD31-4B8C-83A1-F6EECF244321}">
                <p14:modId xmlns:p14="http://schemas.microsoft.com/office/powerpoint/2010/main" val="2698987093"/>
              </p:ext>
            </p:extLst>
          </p:nvPr>
        </p:nvGraphicFramePr>
        <p:xfrm>
          <a:off x="568232" y="2336030"/>
          <a:ext cx="9154266" cy="1996190"/>
        </p:xfrm>
        <a:graphic>
          <a:graphicData uri="http://schemas.openxmlformats.org/drawingml/2006/table">
            <a:tbl>
              <a:tblPr/>
              <a:tblGrid>
                <a:gridCol w="4577133">
                  <a:extLst>
                    <a:ext uri="{9D8B030D-6E8A-4147-A177-3AD203B41FA5}">
                      <a16:colId xmlns:a16="http://schemas.microsoft.com/office/drawing/2014/main" val="20000"/>
                    </a:ext>
                  </a:extLst>
                </a:gridCol>
                <a:gridCol w="4577133">
                  <a:extLst>
                    <a:ext uri="{9D8B030D-6E8A-4147-A177-3AD203B41FA5}">
                      <a16:colId xmlns:a16="http://schemas.microsoft.com/office/drawing/2014/main" val="20002"/>
                    </a:ext>
                  </a:extLst>
                </a:gridCol>
              </a:tblGrid>
              <a:tr h="399238">
                <a:tc>
                  <a:txBody>
                    <a:bodyPr/>
                    <a:lstStyle/>
                    <a:p>
                      <a:r>
                        <a:rPr lang="en-IN" b="1" dirty="0"/>
                        <a:t>Parameter</a:t>
                      </a:r>
                      <a:endParaRPr lang="en-IN" dirty="0"/>
                    </a:p>
                  </a:txBody>
                  <a:tcPr anchor="ctr">
                    <a:lnL>
                      <a:noFill/>
                    </a:lnL>
                    <a:lnR>
                      <a:noFill/>
                    </a:lnR>
                    <a:lnT>
                      <a:noFill/>
                    </a:lnT>
                    <a:lnB>
                      <a:noFill/>
                    </a:lnB>
                  </a:tcPr>
                </a:tc>
                <a:tc>
                  <a:txBody>
                    <a:bodyPr/>
                    <a:lstStyle/>
                    <a:p>
                      <a:r>
                        <a:rPr lang="en-IN" b="1" dirty="0"/>
                        <a:t>Description</a:t>
                      </a:r>
                      <a:endParaRPr lang="en-IN" dirty="0"/>
                    </a:p>
                  </a:txBody>
                  <a:tcPr anchor="ctr">
                    <a:lnL>
                      <a:noFill/>
                    </a:lnL>
                    <a:lnR>
                      <a:noFill/>
                    </a:lnR>
                    <a:lnT>
                      <a:noFill/>
                    </a:lnT>
                    <a:lnB>
                      <a:noFill/>
                    </a:lnB>
                  </a:tcPr>
                </a:tc>
                <a:extLst>
                  <a:ext uri="{0D108BD9-81ED-4DB2-BD59-A6C34878D82A}">
                    <a16:rowId xmlns:a16="http://schemas.microsoft.com/office/drawing/2014/main" val="10000"/>
                  </a:ext>
                </a:extLst>
              </a:tr>
              <a:tr h="399238">
                <a:tc>
                  <a:txBody>
                    <a:bodyPr/>
                    <a:lstStyle/>
                    <a:p>
                      <a:r>
                        <a:rPr lang="en-IN" dirty="0"/>
                        <a:t>Encryption Algorithm</a:t>
                      </a:r>
                    </a:p>
                  </a:txBody>
                  <a:tcPr anchor="ctr">
                    <a:lnL>
                      <a:noFill/>
                    </a:lnL>
                    <a:lnR>
                      <a:noFill/>
                    </a:lnR>
                    <a:lnT>
                      <a:noFill/>
                    </a:lnT>
                    <a:lnB>
                      <a:noFill/>
                    </a:lnB>
                  </a:tcPr>
                </a:tc>
                <a:tc>
                  <a:txBody>
                    <a:bodyPr/>
                    <a:lstStyle/>
                    <a:p>
                      <a:r>
                        <a:rPr lang="en-IN" dirty="0"/>
                        <a:t>AES-GCM (256-bit key)</a:t>
                      </a:r>
                    </a:p>
                  </a:txBody>
                  <a:tcPr anchor="ctr">
                    <a:lnL>
                      <a:noFill/>
                    </a:lnL>
                    <a:lnR>
                      <a:noFill/>
                    </a:lnR>
                    <a:lnT>
                      <a:noFill/>
                    </a:lnT>
                    <a:lnB>
                      <a:noFill/>
                    </a:lnB>
                  </a:tcPr>
                </a:tc>
                <a:extLst>
                  <a:ext uri="{0D108BD9-81ED-4DB2-BD59-A6C34878D82A}">
                    <a16:rowId xmlns:a16="http://schemas.microsoft.com/office/drawing/2014/main" val="10001"/>
                  </a:ext>
                </a:extLst>
              </a:tr>
              <a:tr h="399238">
                <a:tc>
                  <a:txBody>
                    <a:bodyPr/>
                    <a:lstStyle/>
                    <a:p>
                      <a:r>
                        <a:rPr lang="en-IN" dirty="0"/>
                        <a:t>Hash Function</a:t>
                      </a:r>
                    </a:p>
                  </a:txBody>
                  <a:tcPr anchor="ctr">
                    <a:lnL>
                      <a:noFill/>
                    </a:lnL>
                    <a:lnR>
                      <a:noFill/>
                    </a:lnR>
                    <a:lnT>
                      <a:noFill/>
                    </a:lnT>
                    <a:lnB>
                      <a:noFill/>
                    </a:lnB>
                  </a:tcPr>
                </a:tc>
                <a:tc>
                  <a:txBody>
                    <a:bodyPr/>
                    <a:lstStyle/>
                    <a:p>
                      <a:r>
                        <a:rPr lang="en-IN" dirty="0"/>
                        <a:t>SHA-256</a:t>
                      </a:r>
                    </a:p>
                  </a:txBody>
                  <a:tcPr anchor="ctr">
                    <a:lnL>
                      <a:noFill/>
                    </a:lnL>
                    <a:lnR>
                      <a:noFill/>
                    </a:lnR>
                    <a:lnT>
                      <a:noFill/>
                    </a:lnT>
                    <a:lnB>
                      <a:noFill/>
                    </a:lnB>
                  </a:tcPr>
                </a:tc>
                <a:extLst>
                  <a:ext uri="{0D108BD9-81ED-4DB2-BD59-A6C34878D82A}">
                    <a16:rowId xmlns:a16="http://schemas.microsoft.com/office/drawing/2014/main" val="10002"/>
                  </a:ext>
                </a:extLst>
              </a:tr>
              <a:tr h="399238">
                <a:tc>
                  <a:txBody>
                    <a:bodyPr/>
                    <a:lstStyle/>
                    <a:p>
                      <a:r>
                        <a:rPr lang="en-IN" dirty="0"/>
                        <a:t>Key Generation</a:t>
                      </a:r>
                    </a:p>
                  </a:txBody>
                  <a:tcPr anchor="ctr">
                    <a:lnL>
                      <a:noFill/>
                    </a:lnL>
                    <a:lnR>
                      <a:noFill/>
                    </a:lnR>
                    <a:lnT>
                      <a:noFill/>
                    </a:lnT>
                    <a:lnB>
                      <a:noFill/>
                    </a:lnB>
                  </a:tcPr>
                </a:tc>
                <a:tc>
                  <a:txBody>
                    <a:bodyPr/>
                    <a:lstStyle/>
                    <a:p>
                      <a:r>
                        <a:rPr lang="en-IN" dirty="0"/>
                        <a:t>Password-based (SHA-256 derived key)</a:t>
                      </a:r>
                    </a:p>
                  </a:txBody>
                  <a:tcPr anchor="ctr">
                    <a:lnL>
                      <a:noFill/>
                    </a:lnL>
                    <a:lnR>
                      <a:noFill/>
                    </a:lnR>
                    <a:lnT>
                      <a:noFill/>
                    </a:lnT>
                    <a:lnB>
                      <a:noFill/>
                    </a:lnB>
                  </a:tcPr>
                </a:tc>
                <a:extLst>
                  <a:ext uri="{0D108BD9-81ED-4DB2-BD59-A6C34878D82A}">
                    <a16:rowId xmlns:a16="http://schemas.microsoft.com/office/drawing/2014/main" val="10003"/>
                  </a:ext>
                </a:extLst>
              </a:tr>
              <a:tr h="399238">
                <a:tc>
                  <a:txBody>
                    <a:bodyPr/>
                    <a:lstStyle/>
                    <a:p>
                      <a:r>
                        <a:rPr lang="en-IN" dirty="0"/>
                        <a:t>Embedding Techniques</a:t>
                      </a:r>
                    </a:p>
                  </a:txBody>
                  <a:tcPr anchor="ctr">
                    <a:lnL>
                      <a:noFill/>
                    </a:lnL>
                    <a:lnR>
                      <a:noFill/>
                    </a:lnR>
                    <a:lnT>
                      <a:noFill/>
                    </a:lnT>
                    <a:lnB>
                      <a:noFill/>
                    </a:lnB>
                  </a:tcPr>
                </a:tc>
                <a:tc>
                  <a:txBody>
                    <a:bodyPr/>
                    <a:lstStyle/>
                    <a:p>
                      <a:r>
                        <a:rPr lang="en-IN" dirty="0"/>
                        <a:t>LSB and DCT</a:t>
                      </a:r>
                    </a:p>
                  </a:txBody>
                  <a:tcPr anchor="ctr">
                    <a:lnL>
                      <a:noFill/>
                    </a:lnL>
                    <a:lnR>
                      <a:noFill/>
                    </a:lnR>
                    <a:lnT>
                      <a:noFill/>
                    </a:lnT>
                    <a:lnB>
                      <a:noFill/>
                    </a:lnB>
                  </a:tcPr>
                </a:tc>
                <a:extLst>
                  <a:ext uri="{0D108BD9-81ED-4DB2-BD59-A6C34878D82A}">
                    <a16:rowId xmlns:a16="http://schemas.microsoft.com/office/drawing/2014/main" val="10004"/>
                  </a:ext>
                </a:extLst>
              </a:tr>
            </a:tbl>
          </a:graphicData>
        </a:graphic>
      </p:graphicFrame>
      <p:sp>
        <p:nvSpPr>
          <p:cNvPr id="9" name="TextBox 8"/>
          <p:cNvSpPr txBox="1"/>
          <p:nvPr/>
        </p:nvSpPr>
        <p:spPr>
          <a:xfrm>
            <a:off x="587827" y="1887575"/>
            <a:ext cx="3866605"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Rule-Based Parameters</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98081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METHODOLOGY</a:t>
            </a:r>
            <a:endParaRPr lang="en-IN" b="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A9E2DEEC-9598-4FB8-B1E5-5438A62C9F63}" type="datetime1">
              <a:rPr lang="en-IN" smtClean="0"/>
              <a:t>10-04-2026</a:t>
            </a:fld>
            <a:endParaRPr lang="en-IN"/>
          </a:p>
        </p:txBody>
      </p:sp>
      <p:sp>
        <p:nvSpPr>
          <p:cNvPr id="5" name="Footer Placeholder 4"/>
          <p:cNvSpPr>
            <a:spLocks noGrp="1"/>
          </p:cNvSpPr>
          <p:nvPr>
            <p:ph type="ftr" sz="quarter" idx="11"/>
          </p:nvPr>
        </p:nvSpPr>
        <p:spPr/>
        <p:txBody>
          <a:bodyPr/>
          <a:lstStyle/>
          <a:p>
            <a:r>
              <a:rPr lang="en-US" dirty="0"/>
              <a:t>Batch No. 12  Department of Cyber Security</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20</a:t>
            </a:fld>
            <a:endParaRPr lang="en-IN"/>
          </a:p>
        </p:txBody>
      </p:sp>
      <p:graphicFrame>
        <p:nvGraphicFramePr>
          <p:cNvPr id="7" name="Content Placeholder 2"/>
          <p:cNvGraphicFramePr>
            <a:graphicFrameLocks noGrp="1"/>
          </p:cNvGraphicFramePr>
          <p:nvPr>
            <p:ph idx="1"/>
            <p:extLst>
              <p:ext uri="{D42A27DB-BD31-4B8C-83A1-F6EECF244321}">
                <p14:modId xmlns:p14="http://schemas.microsoft.com/office/powerpoint/2010/main" val="3454830640"/>
              </p:ext>
            </p:extLst>
          </p:nvPr>
        </p:nvGraphicFramePr>
        <p:xfrm>
          <a:off x="513261" y="1799318"/>
          <a:ext cx="9321204" cy="3042148"/>
        </p:xfrm>
        <a:graphic>
          <a:graphicData uri="http://schemas.openxmlformats.org/drawingml/2006/table">
            <a:tbl>
              <a:tblPr/>
              <a:tblGrid>
                <a:gridCol w="4660602">
                  <a:extLst>
                    <a:ext uri="{9D8B030D-6E8A-4147-A177-3AD203B41FA5}">
                      <a16:colId xmlns:a16="http://schemas.microsoft.com/office/drawing/2014/main" val="20000"/>
                    </a:ext>
                  </a:extLst>
                </a:gridCol>
                <a:gridCol w="4660602">
                  <a:extLst>
                    <a:ext uri="{9D8B030D-6E8A-4147-A177-3AD203B41FA5}">
                      <a16:colId xmlns:a16="http://schemas.microsoft.com/office/drawing/2014/main" val="20002"/>
                    </a:ext>
                  </a:extLst>
                </a:gridCol>
              </a:tblGrid>
              <a:tr h="304439">
                <a:tc>
                  <a:txBody>
                    <a:bodyPr/>
                    <a:lstStyle/>
                    <a:p>
                      <a:r>
                        <a:rPr lang="en-IN" b="1" dirty="0"/>
                        <a:t>Parameter</a:t>
                      </a:r>
                      <a:endParaRPr lang="en-IN" dirty="0"/>
                    </a:p>
                  </a:txBody>
                  <a:tcPr anchor="ctr">
                    <a:lnL>
                      <a:noFill/>
                    </a:lnL>
                    <a:lnR>
                      <a:noFill/>
                    </a:lnR>
                    <a:lnT>
                      <a:noFill/>
                    </a:lnT>
                    <a:lnB>
                      <a:noFill/>
                    </a:lnB>
                  </a:tcPr>
                </a:tc>
                <a:tc>
                  <a:txBody>
                    <a:bodyPr/>
                    <a:lstStyle/>
                    <a:p>
                      <a:r>
                        <a:rPr lang="en-IN" b="1" dirty="0"/>
                        <a:t>Description</a:t>
                      </a:r>
                      <a:endParaRPr lang="en-IN" dirty="0"/>
                    </a:p>
                  </a:txBody>
                  <a:tcPr anchor="ctr">
                    <a:lnL>
                      <a:noFill/>
                    </a:lnL>
                    <a:lnR>
                      <a:noFill/>
                    </a:lnR>
                    <a:lnT>
                      <a:noFill/>
                    </a:lnT>
                    <a:lnB>
                      <a:noFill/>
                    </a:lnB>
                  </a:tcPr>
                </a:tc>
                <a:extLst>
                  <a:ext uri="{0D108BD9-81ED-4DB2-BD59-A6C34878D82A}">
                    <a16:rowId xmlns:a16="http://schemas.microsoft.com/office/drawing/2014/main" val="10000"/>
                  </a:ext>
                </a:extLst>
              </a:tr>
              <a:tr h="359500">
                <a:tc>
                  <a:txBody>
                    <a:bodyPr/>
                    <a:lstStyle/>
                    <a:p>
                      <a:r>
                        <a:rPr lang="en-IN" dirty="0"/>
                        <a:t>Key Size </a:t>
                      </a:r>
                    </a:p>
                  </a:txBody>
                  <a:tcPr anchor="ctr">
                    <a:lnL>
                      <a:noFill/>
                    </a:lnL>
                    <a:lnR>
                      <a:noFill/>
                    </a:lnR>
                    <a:lnT>
                      <a:noFill/>
                    </a:lnT>
                    <a:lnB>
                      <a:noFill/>
                    </a:lnB>
                  </a:tcPr>
                </a:tc>
                <a:tc>
                  <a:txBody>
                    <a:bodyPr/>
                    <a:lstStyle/>
                    <a:p>
                      <a:r>
                        <a:rPr lang="en-IN" dirty="0"/>
                        <a:t>256-bit</a:t>
                      </a:r>
                      <a:endParaRPr lang="en-US" dirty="0"/>
                    </a:p>
                  </a:txBody>
                  <a:tcPr anchor="ctr">
                    <a:lnL>
                      <a:noFill/>
                    </a:lnL>
                    <a:lnR>
                      <a:noFill/>
                    </a:lnR>
                    <a:lnT>
                      <a:noFill/>
                    </a:lnT>
                    <a:lnB>
                      <a:noFill/>
                    </a:lnB>
                  </a:tcPr>
                </a:tc>
                <a:extLst>
                  <a:ext uri="{0D108BD9-81ED-4DB2-BD59-A6C34878D82A}">
                    <a16:rowId xmlns:a16="http://schemas.microsoft.com/office/drawing/2014/main" val="10005"/>
                  </a:ext>
                </a:extLst>
              </a:tr>
              <a:tr h="532768">
                <a:tc>
                  <a:txBody>
                    <a:bodyPr/>
                    <a:lstStyle/>
                    <a:p>
                      <a:r>
                        <a:rPr lang="en-IN" dirty="0"/>
                        <a:t>Nonce </a:t>
                      </a:r>
                    </a:p>
                  </a:txBody>
                  <a:tcPr anchor="ctr">
                    <a:lnL>
                      <a:noFill/>
                    </a:lnL>
                    <a:lnR>
                      <a:noFill/>
                    </a:lnR>
                    <a:lnT>
                      <a:noFill/>
                    </a:lnT>
                    <a:lnB>
                      <a:noFill/>
                    </a:lnB>
                  </a:tcPr>
                </a:tc>
                <a:tc>
                  <a:txBody>
                    <a:bodyPr/>
                    <a:lstStyle/>
                    <a:p>
                      <a:r>
                        <a:rPr lang="en-IN" dirty="0"/>
                        <a:t>12 bytes (random)</a:t>
                      </a:r>
                      <a:endParaRPr lang="en-US" dirty="0"/>
                    </a:p>
                  </a:txBody>
                  <a:tcPr anchor="ctr">
                    <a:lnL>
                      <a:noFill/>
                    </a:lnL>
                    <a:lnR>
                      <a:noFill/>
                    </a:lnR>
                    <a:lnT>
                      <a:noFill/>
                    </a:lnT>
                    <a:lnB>
                      <a:noFill/>
                    </a:lnB>
                  </a:tcPr>
                </a:tc>
                <a:extLst>
                  <a:ext uri="{0D108BD9-81ED-4DB2-BD59-A6C34878D82A}">
                    <a16:rowId xmlns:a16="http://schemas.microsoft.com/office/drawing/2014/main" val="10006"/>
                  </a:ext>
                </a:extLst>
              </a:tr>
              <a:tr h="359500">
                <a:tc>
                  <a:txBody>
                    <a:bodyPr/>
                    <a:lstStyle/>
                    <a:p>
                      <a:r>
                        <a:rPr lang="en-IN" dirty="0"/>
                        <a:t>Mode </a:t>
                      </a:r>
                    </a:p>
                  </a:txBody>
                  <a:tcPr anchor="ctr">
                    <a:lnL>
                      <a:noFill/>
                    </a:lnL>
                    <a:lnR>
                      <a:noFill/>
                    </a:lnR>
                    <a:lnT>
                      <a:noFill/>
                    </a:lnT>
                    <a:lnB>
                      <a:noFill/>
                    </a:lnB>
                  </a:tcPr>
                </a:tc>
                <a:tc>
                  <a:txBody>
                    <a:bodyPr/>
                    <a:lstStyle/>
                    <a:p>
                      <a:r>
                        <a:rPr lang="en-IN" dirty="0"/>
                        <a:t>Galois/Counter Mode</a:t>
                      </a:r>
                      <a:endParaRPr lang="en-US" dirty="0"/>
                    </a:p>
                  </a:txBody>
                  <a:tcPr anchor="ctr">
                    <a:lnL>
                      <a:noFill/>
                    </a:lnL>
                    <a:lnR>
                      <a:noFill/>
                    </a:lnR>
                    <a:lnT>
                      <a:noFill/>
                    </a:lnT>
                    <a:lnB>
                      <a:noFill/>
                    </a:lnB>
                  </a:tcPr>
                </a:tc>
                <a:extLst>
                  <a:ext uri="{0D108BD9-81ED-4DB2-BD59-A6C34878D82A}">
                    <a16:rowId xmlns:a16="http://schemas.microsoft.com/office/drawing/2014/main" val="10001"/>
                  </a:ext>
                </a:extLst>
              </a:tr>
              <a:tr h="532768">
                <a:tc>
                  <a:txBody>
                    <a:bodyPr/>
                    <a:lstStyle/>
                    <a:p>
                      <a:r>
                        <a:rPr lang="en-IN" dirty="0"/>
                        <a:t>Hash Length </a:t>
                      </a:r>
                    </a:p>
                  </a:txBody>
                  <a:tcPr anchor="ctr">
                    <a:lnL>
                      <a:noFill/>
                    </a:lnL>
                    <a:lnR>
                      <a:noFill/>
                    </a:lnR>
                    <a:lnT>
                      <a:noFill/>
                    </a:lnT>
                    <a:lnB>
                      <a:noFill/>
                    </a:lnB>
                  </a:tcPr>
                </a:tc>
                <a:tc>
                  <a:txBody>
                    <a:bodyPr/>
                    <a:lstStyle/>
                    <a:p>
                      <a:r>
                        <a:rPr lang="en-IN" dirty="0"/>
                        <a:t>256-bit output</a:t>
                      </a:r>
                      <a:endParaRPr lang="en-US" dirty="0"/>
                    </a:p>
                  </a:txBody>
                  <a:tcPr anchor="ctr">
                    <a:lnL>
                      <a:noFill/>
                    </a:lnL>
                    <a:lnR>
                      <a:noFill/>
                    </a:lnR>
                    <a:lnT>
                      <a:noFill/>
                    </a:lnT>
                    <a:lnB>
                      <a:noFill/>
                    </a:lnB>
                  </a:tcPr>
                </a:tc>
                <a:extLst>
                  <a:ext uri="{0D108BD9-81ED-4DB2-BD59-A6C34878D82A}">
                    <a16:rowId xmlns:a16="http://schemas.microsoft.com/office/drawing/2014/main" val="10002"/>
                  </a:ext>
                </a:extLst>
              </a:tr>
              <a:tr h="359500">
                <a:tc>
                  <a:txBody>
                    <a:bodyPr/>
                    <a:lstStyle/>
                    <a:p>
                      <a:r>
                        <a:rPr lang="en-IN" dirty="0"/>
                        <a:t>Capacity</a:t>
                      </a:r>
                    </a:p>
                  </a:txBody>
                  <a:tcPr anchor="ctr">
                    <a:lnL>
                      <a:noFill/>
                    </a:lnL>
                    <a:lnR>
                      <a:noFill/>
                    </a:lnR>
                    <a:lnT>
                      <a:noFill/>
                    </a:lnT>
                    <a:lnB>
                      <a:noFill/>
                    </a:lnB>
                  </a:tcPr>
                </a:tc>
                <a:tc>
                  <a:txBody>
                    <a:bodyPr/>
                    <a:lstStyle/>
                    <a:p>
                      <a:r>
                        <a:rPr lang="en-US" dirty="0"/>
                        <a:t>High (depends on image size)</a:t>
                      </a:r>
                      <a:endParaRPr lang="en-IN" dirty="0"/>
                    </a:p>
                  </a:txBody>
                  <a:tcPr anchor="ctr">
                    <a:lnL>
                      <a:noFill/>
                    </a:lnL>
                    <a:lnR>
                      <a:noFill/>
                    </a:lnR>
                    <a:lnT>
                      <a:noFill/>
                    </a:lnT>
                    <a:lnB>
                      <a:noFill/>
                    </a:lnB>
                  </a:tcPr>
                </a:tc>
                <a:extLst>
                  <a:ext uri="{0D108BD9-81ED-4DB2-BD59-A6C34878D82A}">
                    <a16:rowId xmlns:a16="http://schemas.microsoft.com/office/drawing/2014/main" val="10003"/>
                  </a:ext>
                </a:extLst>
              </a:tr>
              <a:tr h="513572">
                <a:tc>
                  <a:txBody>
                    <a:bodyPr/>
                    <a:lstStyle/>
                    <a:p>
                      <a:r>
                        <a:rPr lang="en-IN" dirty="0"/>
                        <a:t>Embedding Bits</a:t>
                      </a:r>
                    </a:p>
                  </a:txBody>
                  <a:tcPr anchor="ctr">
                    <a:lnL>
                      <a:noFill/>
                    </a:lnL>
                    <a:lnR>
                      <a:noFill/>
                    </a:lnR>
                    <a:lnT>
                      <a:noFill/>
                    </a:lnT>
                    <a:lnB>
                      <a:noFill/>
                    </a:lnB>
                  </a:tcPr>
                </a:tc>
                <a:tc>
                  <a:txBody>
                    <a:bodyPr/>
                    <a:lstStyle/>
                    <a:p>
                      <a:r>
                        <a:rPr lang="it-IT" dirty="0"/>
                        <a:t>1 bit per channel (RGB)</a:t>
                      </a:r>
                      <a:endParaRPr lang="en-IN" dirty="0"/>
                    </a:p>
                  </a:txBody>
                  <a:tcPr anchor="ctr">
                    <a:lnL>
                      <a:noFill/>
                    </a:lnL>
                    <a:lnR>
                      <a:noFill/>
                    </a:lnR>
                    <a:lnT>
                      <a:noFill/>
                    </a:lnT>
                    <a:lnB>
                      <a:noFill/>
                    </a:lnB>
                  </a:tcPr>
                </a:tc>
                <a:extLst>
                  <a:ext uri="{0D108BD9-81ED-4DB2-BD59-A6C34878D82A}">
                    <a16:rowId xmlns:a16="http://schemas.microsoft.com/office/drawing/2014/main" val="10004"/>
                  </a:ext>
                </a:extLst>
              </a:tr>
            </a:tbl>
          </a:graphicData>
        </a:graphic>
      </p:graphicFrame>
      <p:sp>
        <p:nvSpPr>
          <p:cNvPr id="8" name="TextBox 7"/>
          <p:cNvSpPr txBox="1"/>
          <p:nvPr/>
        </p:nvSpPr>
        <p:spPr>
          <a:xfrm>
            <a:off x="513261" y="1375671"/>
            <a:ext cx="436299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Random Forest Algorithm Parameters </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19831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009409" y="449523"/>
            <a:ext cx="10173182" cy="1128009"/>
          </a:xfrm>
        </p:spPr>
        <p:txBody>
          <a:bodyPr/>
          <a:lstStyle/>
          <a:p>
            <a:pPr algn="ctr"/>
            <a:r>
              <a:rPr lang="en-US" b="1" dirty="0">
                <a:latin typeface="Times New Roman" panose="02020603050405020304" pitchFamily="18" charset="0"/>
                <a:cs typeface="Times New Roman" panose="02020603050405020304" pitchFamily="18" charset="0"/>
              </a:rPr>
              <a:t>IMPLEMENTATION</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4BB29174-9CEF-4C3D-93A0-0A41A78A9226}" type="datetime1">
              <a:rPr lang="en-IN" smtClean="0">
                <a:latin typeface="Times New Roman" panose="02020603050405020304" pitchFamily="18" charset="0"/>
                <a:cs typeface="Times New Roman" panose="02020603050405020304" pitchFamily="18" charset="0"/>
              </a:rPr>
              <a:t>10-04-2026</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Batch No. 12  Department of Cyber Security</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21</a:t>
            </a:fld>
            <a:endParaRPr lang="en-US">
              <a:latin typeface="Times New Roman" panose="02020603050405020304" pitchFamily="18" charset="0"/>
              <a:cs typeface="Times New Roman" panose="02020603050405020304" pitchFamily="18" charset="0"/>
            </a:endParaRPr>
          </a:p>
        </p:txBody>
      </p:sp>
      <p:sp>
        <p:nvSpPr>
          <p:cNvPr id="12" name="Content Placeholder 11"/>
          <p:cNvSpPr>
            <a:spLocks noGrp="1"/>
          </p:cNvSpPr>
          <p:nvPr>
            <p:ph idx="1"/>
          </p:nvPr>
        </p:nvSpPr>
        <p:spPr>
          <a:xfrm>
            <a:off x="838200" y="1268963"/>
            <a:ext cx="10515600" cy="5087387"/>
          </a:xfrm>
        </p:spPr>
        <p:txBody>
          <a:bodyPr>
            <a:normAutofit fontScale="55000" lnSpcReduction="20000"/>
          </a:bodyPr>
          <a:lstStyle/>
          <a:p>
            <a:pPr marL="0" indent="0" algn="just">
              <a:lnSpc>
                <a:spcPct val="120000"/>
              </a:lnSpc>
              <a:buNone/>
            </a:pPr>
            <a:r>
              <a:rPr lang="en-US" sz="4500" b="1" dirty="0">
                <a:latin typeface="Times New Roman" panose="02020603050405020304" pitchFamily="18" charset="0"/>
                <a:cs typeface="Times New Roman" panose="02020603050405020304" pitchFamily="18" charset="0"/>
              </a:rPr>
              <a:t>Programming Language</a:t>
            </a:r>
          </a:p>
          <a:p>
            <a:r>
              <a:rPr lang="en-US" sz="4800" dirty="0">
                <a:latin typeface="Times New Roman" panose="02020603050405020304" pitchFamily="18" charset="0"/>
                <a:cs typeface="Times New Roman" panose="02020603050405020304" pitchFamily="18" charset="0"/>
              </a:rPr>
              <a:t>• </a:t>
            </a:r>
            <a:r>
              <a:rPr lang="en-US" sz="4800" b="1" dirty="0">
                <a:latin typeface="Times New Roman" panose="02020603050405020304" pitchFamily="18" charset="0"/>
                <a:cs typeface="Times New Roman" panose="02020603050405020304" pitchFamily="18" charset="0"/>
              </a:rPr>
              <a:t>Python</a:t>
            </a:r>
            <a:r>
              <a:rPr lang="en-US" sz="4800" dirty="0">
                <a:latin typeface="Times New Roman" panose="02020603050405020304" pitchFamily="18" charset="0"/>
                <a:cs typeface="Times New Roman" panose="02020603050405020304" pitchFamily="18" charset="0"/>
              </a:rPr>
              <a:t> – Main programming language used for developing the system and implementing detection logic.</a:t>
            </a:r>
          </a:p>
          <a:p>
            <a:r>
              <a:rPr lang="en-US" sz="4800" dirty="0">
                <a:latin typeface="Times New Roman" panose="02020603050405020304" pitchFamily="18" charset="0"/>
                <a:cs typeface="Times New Roman" panose="02020603050405020304" pitchFamily="18" charset="0"/>
              </a:rPr>
              <a:t>• </a:t>
            </a:r>
            <a:r>
              <a:rPr lang="en-US" sz="4800" b="1" dirty="0">
                <a:latin typeface="Times New Roman" panose="02020603050405020304" pitchFamily="18" charset="0"/>
                <a:cs typeface="Times New Roman" panose="02020603050405020304" pitchFamily="18" charset="0"/>
              </a:rPr>
              <a:t>VS Code / Jupiter Notebook</a:t>
            </a:r>
            <a:r>
              <a:rPr lang="en-US" sz="4800" dirty="0">
                <a:latin typeface="Times New Roman" panose="02020603050405020304" pitchFamily="18" charset="0"/>
                <a:cs typeface="Times New Roman" panose="02020603050405020304" pitchFamily="18" charset="0"/>
              </a:rPr>
              <a:t> – Used for coding, testing, and experimentation during development.</a:t>
            </a:r>
          </a:p>
          <a:p>
            <a:r>
              <a:rPr lang="en-US" sz="4800" dirty="0">
                <a:latin typeface="Times New Roman" panose="02020603050405020304" pitchFamily="18" charset="0"/>
                <a:cs typeface="Times New Roman" panose="02020603050405020304" pitchFamily="18" charset="0"/>
              </a:rPr>
              <a:t>• </a:t>
            </a:r>
            <a:r>
              <a:rPr lang="en-US" sz="4800" b="1" dirty="0">
                <a:latin typeface="Times New Roman" panose="02020603050405020304" pitchFamily="18" charset="0"/>
                <a:cs typeface="Times New Roman" panose="02020603050405020304" pitchFamily="18" charset="0"/>
              </a:rPr>
              <a:t>OpenCV</a:t>
            </a:r>
            <a:r>
              <a:rPr lang="en-US" sz="4800" dirty="0">
                <a:latin typeface="Times New Roman" panose="02020603050405020304" pitchFamily="18" charset="0"/>
                <a:cs typeface="Times New Roman" panose="02020603050405020304" pitchFamily="18" charset="0"/>
              </a:rPr>
              <a:t> – Used for image processing and handling image data</a:t>
            </a:r>
          </a:p>
          <a:p>
            <a:r>
              <a:rPr lang="en-US" sz="4800" dirty="0">
                <a:latin typeface="Times New Roman" panose="02020603050405020304" pitchFamily="18" charset="0"/>
                <a:cs typeface="Times New Roman" panose="02020603050405020304" pitchFamily="18" charset="0"/>
              </a:rPr>
              <a:t>• </a:t>
            </a:r>
            <a:r>
              <a:rPr lang="en-US" sz="4800" b="1" dirty="0">
                <a:latin typeface="Times New Roman" panose="02020603050405020304" pitchFamily="18" charset="0"/>
                <a:cs typeface="Times New Roman" panose="02020603050405020304" pitchFamily="18" charset="0"/>
              </a:rPr>
              <a:t>NumPy</a:t>
            </a:r>
            <a:r>
              <a:rPr lang="en-US" sz="4800" dirty="0">
                <a:latin typeface="Times New Roman" panose="02020603050405020304" pitchFamily="18" charset="0"/>
                <a:cs typeface="Times New Roman" panose="02020603050405020304" pitchFamily="18" charset="0"/>
              </a:rPr>
              <a:t> – Used for data cleaning, manipulation, and numerical computations.</a:t>
            </a:r>
          </a:p>
          <a:p>
            <a:r>
              <a:rPr lang="en-US" sz="4800" dirty="0">
                <a:latin typeface="Times New Roman" panose="02020603050405020304" pitchFamily="18" charset="0"/>
                <a:cs typeface="Times New Roman" panose="02020603050405020304" pitchFamily="18" charset="0"/>
              </a:rPr>
              <a:t>• </a:t>
            </a:r>
            <a:r>
              <a:rPr lang="en-US" sz="4800" b="1" dirty="0">
                <a:latin typeface="Times New Roman" panose="02020603050405020304" pitchFamily="18" charset="0"/>
                <a:cs typeface="Times New Roman" panose="02020603050405020304" pitchFamily="18" charset="0"/>
              </a:rPr>
              <a:t>Cryptography Library</a:t>
            </a:r>
            <a:r>
              <a:rPr lang="en-US" sz="4800" dirty="0">
                <a:latin typeface="Times New Roman" panose="02020603050405020304" pitchFamily="18" charset="0"/>
                <a:cs typeface="Times New Roman" panose="02020603050405020304" pitchFamily="18" charset="0"/>
              </a:rPr>
              <a:t> – Used for implementing AES encryption and decryption</a:t>
            </a:r>
          </a:p>
          <a:p>
            <a:r>
              <a:rPr lang="en-US" sz="4800" dirty="0">
                <a:latin typeface="Times New Roman" panose="02020603050405020304" pitchFamily="18" charset="0"/>
                <a:cs typeface="Times New Roman" panose="02020603050405020304" pitchFamily="18" charset="0"/>
              </a:rPr>
              <a:t>• </a:t>
            </a:r>
            <a:r>
              <a:rPr lang="en-IN" sz="4800" b="1" dirty="0">
                <a:latin typeface="Times New Roman" panose="02020603050405020304" pitchFamily="18" charset="0"/>
                <a:cs typeface="Times New Roman" panose="02020603050405020304" pitchFamily="18" charset="0"/>
              </a:rPr>
              <a:t>Pillow (PIL)</a:t>
            </a:r>
            <a:r>
              <a:rPr lang="en-IN" sz="4800" dirty="0">
                <a:latin typeface="Times New Roman" panose="02020603050405020304" pitchFamily="18" charset="0"/>
                <a:cs typeface="Times New Roman" panose="02020603050405020304" pitchFamily="18" charset="0"/>
              </a:rPr>
              <a:t> – Used for image manipulation and format handling</a:t>
            </a:r>
          </a:p>
          <a:p>
            <a:pPr marL="285750" indent="-285750"/>
            <a:r>
              <a:rPr lang="en-US" sz="4800" b="1" dirty="0" err="1">
                <a:latin typeface="Times New Roman" panose="02020603050405020304" pitchFamily="18" charset="0"/>
                <a:cs typeface="Times New Roman" panose="02020603050405020304" pitchFamily="18" charset="0"/>
              </a:rPr>
              <a:t>Tkinter</a:t>
            </a:r>
            <a:r>
              <a:rPr lang="en-US" sz="4800" dirty="0">
                <a:latin typeface="Times New Roman" panose="02020603050405020304" pitchFamily="18" charset="0"/>
                <a:cs typeface="Times New Roman" panose="02020603050405020304" pitchFamily="18" charset="0"/>
              </a:rPr>
              <a:t> – Used for designing the graphical user interface</a:t>
            </a:r>
            <a:endParaRPr lang="en-US" altLang="en-US" sz="4800"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27255409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5E0DF-C12F-6227-AF57-E2D8915C4D60}"/>
              </a:ext>
            </a:extLst>
          </p:cNvPr>
          <p:cNvSpPr>
            <a:spLocks noGrp="1"/>
          </p:cNvSpPr>
          <p:nvPr>
            <p:ph type="title"/>
          </p:nvPr>
        </p:nvSpPr>
        <p:spPr>
          <a:xfrm>
            <a:off x="838200" y="278102"/>
            <a:ext cx="10515600" cy="1325563"/>
          </a:xfrm>
        </p:spPr>
        <p:txBody>
          <a:bodyPr/>
          <a:lstStyle/>
          <a:p>
            <a:r>
              <a:rPr lang="en-IN" dirty="0"/>
              <a:t>                      </a:t>
            </a:r>
            <a:r>
              <a:rPr lang="en-US" b="1" dirty="0">
                <a:latin typeface="Times New Roman" panose="02020603050405020304" pitchFamily="18" charset="0"/>
                <a:cs typeface="Times New Roman" panose="02020603050405020304" pitchFamily="18" charset="0"/>
              </a:rPr>
              <a:t>IMPLEMENTATION</a:t>
            </a:r>
            <a:r>
              <a:rPr lang="en-IN" dirty="0"/>
              <a:t>   </a:t>
            </a:r>
          </a:p>
        </p:txBody>
      </p:sp>
      <p:sp>
        <p:nvSpPr>
          <p:cNvPr id="4" name="Date Placeholder 3">
            <a:extLst>
              <a:ext uri="{FF2B5EF4-FFF2-40B4-BE49-F238E27FC236}">
                <a16:creationId xmlns:a16="http://schemas.microsoft.com/office/drawing/2014/main" id="{C8A75422-FA88-B92E-BF75-1EBD588A6EEF}"/>
              </a:ext>
            </a:extLst>
          </p:cNvPr>
          <p:cNvSpPr>
            <a:spLocks noGrp="1"/>
          </p:cNvSpPr>
          <p:nvPr>
            <p:ph type="dt" sz="half" idx="10"/>
          </p:nvPr>
        </p:nvSpPr>
        <p:spPr/>
        <p:txBody>
          <a:bodyPr/>
          <a:lstStyle/>
          <a:p>
            <a:fld id="{37C55F68-570F-4949-B1BA-51404359E3A9}" type="datetime1">
              <a:rPr lang="en-IN" smtClean="0"/>
              <a:t>10-04-2026</a:t>
            </a:fld>
            <a:endParaRPr lang="en-IN"/>
          </a:p>
        </p:txBody>
      </p:sp>
      <p:sp>
        <p:nvSpPr>
          <p:cNvPr id="5" name="Footer Placeholder 4">
            <a:extLst>
              <a:ext uri="{FF2B5EF4-FFF2-40B4-BE49-F238E27FC236}">
                <a16:creationId xmlns:a16="http://schemas.microsoft.com/office/drawing/2014/main" id="{2EBF96B5-901A-FEC7-15AA-94797DCA5AB8}"/>
              </a:ext>
            </a:extLst>
          </p:cNvPr>
          <p:cNvSpPr>
            <a:spLocks noGrp="1"/>
          </p:cNvSpPr>
          <p:nvPr>
            <p:ph type="ftr" sz="quarter" idx="11"/>
          </p:nvPr>
        </p:nvSpPr>
        <p:spPr/>
        <p:txBody>
          <a:bodyPr/>
          <a:lstStyle/>
          <a:p>
            <a:r>
              <a:rPr lang="en-US" dirty="0"/>
              <a:t>Batch No. 12  Department of Cyber Security</a:t>
            </a:r>
            <a:endParaRPr lang="en-IN" dirty="0"/>
          </a:p>
        </p:txBody>
      </p:sp>
      <p:sp>
        <p:nvSpPr>
          <p:cNvPr id="6" name="Slide Number Placeholder 5">
            <a:extLst>
              <a:ext uri="{FF2B5EF4-FFF2-40B4-BE49-F238E27FC236}">
                <a16:creationId xmlns:a16="http://schemas.microsoft.com/office/drawing/2014/main" id="{809ACACD-88B0-4460-9EDF-3344D3FEBB6D}"/>
              </a:ext>
            </a:extLst>
          </p:cNvPr>
          <p:cNvSpPr>
            <a:spLocks noGrp="1"/>
          </p:cNvSpPr>
          <p:nvPr>
            <p:ph type="sldNum" sz="quarter" idx="12"/>
          </p:nvPr>
        </p:nvSpPr>
        <p:spPr/>
        <p:txBody>
          <a:bodyPr/>
          <a:lstStyle/>
          <a:p>
            <a:fld id="{65DCBD69-296B-4D7C-AF62-9B588FC78772}" type="slidenum">
              <a:rPr lang="en-IN" smtClean="0"/>
              <a:t>22</a:t>
            </a:fld>
            <a:endParaRPr lang="en-IN"/>
          </a:p>
        </p:txBody>
      </p:sp>
      <p:sp>
        <p:nvSpPr>
          <p:cNvPr id="7" name="Rectangle 1">
            <a:extLst>
              <a:ext uri="{FF2B5EF4-FFF2-40B4-BE49-F238E27FC236}">
                <a16:creationId xmlns:a16="http://schemas.microsoft.com/office/drawing/2014/main" id="{21BFC4DB-89C7-9A24-B3A7-9ABE977F7F74}"/>
              </a:ext>
            </a:extLst>
          </p:cNvPr>
          <p:cNvSpPr>
            <a:spLocks noGrp="1" noChangeArrowheads="1"/>
          </p:cNvSpPr>
          <p:nvPr>
            <p:ph idx="1"/>
          </p:nvPr>
        </p:nvSpPr>
        <p:spPr bwMode="auto">
          <a:xfrm>
            <a:off x="502024" y="825503"/>
            <a:ext cx="10851776" cy="56158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2400" b="1"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Hardware Implementation				</a:t>
            </a:r>
          </a:p>
          <a:p>
            <a:r>
              <a:rPr lang="en-IN" sz="2000" b="1" dirty="0"/>
              <a:t>Required Hardware</a:t>
            </a:r>
          </a:p>
          <a:p>
            <a:pPr marL="0" indent="0">
              <a:buNone/>
            </a:pPr>
            <a:r>
              <a:rPr lang="en-IN" sz="2000" b="1" dirty="0"/>
              <a:t> Minimum Configuration:</a:t>
            </a:r>
          </a:p>
          <a:p>
            <a:r>
              <a:rPr lang="en-IN" sz="2000" b="1" dirty="0"/>
              <a:t>Processor:</a:t>
            </a:r>
            <a:r>
              <a:rPr lang="en-IN" sz="2000" dirty="0"/>
              <a:t> Intel Core i3 or equivalent </a:t>
            </a:r>
          </a:p>
          <a:p>
            <a:r>
              <a:rPr lang="en-IN" sz="2000" b="1" dirty="0"/>
              <a:t>RAM:</a:t>
            </a:r>
            <a:r>
              <a:rPr lang="en-IN" sz="2000" dirty="0"/>
              <a:t> 4 GB </a:t>
            </a:r>
          </a:p>
          <a:p>
            <a:r>
              <a:rPr lang="en-IN" sz="2000" b="1" dirty="0"/>
              <a:t>Storage:</a:t>
            </a:r>
            <a:r>
              <a:rPr lang="en-IN" sz="2000" dirty="0"/>
              <a:t> 2 GB free space </a:t>
            </a:r>
          </a:p>
          <a:p>
            <a:pPr marL="0" indent="0">
              <a:buNone/>
            </a:pPr>
            <a:r>
              <a:rPr lang="en-IN" sz="2000" b="1" dirty="0"/>
              <a:t>Recommended Configuration:</a:t>
            </a:r>
          </a:p>
          <a:p>
            <a:r>
              <a:rPr lang="en-IN" sz="2000" b="1" dirty="0"/>
              <a:t>Processor:</a:t>
            </a:r>
            <a:r>
              <a:rPr lang="en-IN" sz="2000" dirty="0"/>
              <a:t> Intel Core i5/i7 or equivalent </a:t>
            </a:r>
          </a:p>
          <a:p>
            <a:r>
              <a:rPr lang="en-IN" sz="2000" b="1" dirty="0"/>
              <a:t>RAM:</a:t>
            </a:r>
            <a:r>
              <a:rPr lang="en-IN" sz="2000" dirty="0"/>
              <a:t> 8 GB or higher </a:t>
            </a:r>
          </a:p>
          <a:p>
            <a:r>
              <a:rPr lang="en-IN" sz="2000" b="1" dirty="0"/>
              <a:t>Storage:</a:t>
            </a:r>
            <a:r>
              <a:rPr lang="en-IN" sz="2000" dirty="0"/>
              <a:t> SSD preferred for faster processing</a:t>
            </a:r>
          </a:p>
          <a:p>
            <a:pPr marL="0" indent="0">
              <a:buNone/>
            </a:pPr>
            <a:endParaRPr lang="en-IN" sz="24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56571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IMPLEMENTATION</a:t>
            </a:r>
            <a:endParaRPr lang="en-IN"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A9E2DEEC-9598-4FB8-B1E5-5438A62C9F63}" type="datetime1">
              <a:rPr lang="en-IN" smtClean="0"/>
              <a:t>10-04-2026</a:t>
            </a:fld>
            <a:endParaRPr lang="en-IN"/>
          </a:p>
        </p:txBody>
      </p:sp>
      <p:sp>
        <p:nvSpPr>
          <p:cNvPr id="5" name="Footer Placeholder 4"/>
          <p:cNvSpPr>
            <a:spLocks noGrp="1"/>
          </p:cNvSpPr>
          <p:nvPr>
            <p:ph type="ftr" sz="quarter" idx="11"/>
          </p:nvPr>
        </p:nvSpPr>
        <p:spPr/>
        <p:txBody>
          <a:bodyPr/>
          <a:lstStyle/>
          <a:p>
            <a:r>
              <a:rPr lang="en-US" dirty="0"/>
              <a:t>Batch No. 12  Department of Cyber Security</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23</a:t>
            </a:fld>
            <a:endParaRPr lang="en-IN"/>
          </a:p>
        </p:txBody>
      </p:sp>
      <p:sp>
        <p:nvSpPr>
          <p:cNvPr id="7" name="Content Placeholder 6"/>
          <p:cNvSpPr txBox="1">
            <a:spLocks noGrp="1"/>
          </p:cNvSpPr>
          <p:nvPr>
            <p:ph idx="1"/>
          </p:nvPr>
        </p:nvSpPr>
        <p:spPr>
          <a:xfrm>
            <a:off x="584561" y="1245155"/>
            <a:ext cx="10515600" cy="4582665"/>
          </a:xfrm>
          <a:prstGeom prst="rect">
            <a:avLst/>
          </a:prstGeom>
          <a:noFill/>
        </p:spPr>
        <p:txBody>
          <a:bodyPr wrap="square" rtlCol="0">
            <a:spAutoFit/>
          </a:bodyPr>
          <a:lstStyle/>
          <a:p>
            <a:pPr marL="0" indent="0">
              <a:lnSpc>
                <a:spcPct val="150000"/>
              </a:lnSpc>
              <a:buNone/>
            </a:pPr>
            <a:r>
              <a:rPr lang="en-IN" sz="2000" b="1" dirty="0">
                <a:latin typeface="Times New Roman" panose="02020603050405020304" pitchFamily="18" charset="0"/>
                <a:cs typeface="Times New Roman" panose="02020603050405020304" pitchFamily="18" charset="0"/>
              </a:rPr>
              <a:t>Hardware Integration</a:t>
            </a:r>
            <a:endParaRPr lang="en-IN" sz="2000" dirty="0">
              <a:latin typeface="Times New Roman" panose="02020603050405020304" pitchFamily="18" charset="0"/>
              <a:cs typeface="Times New Roman" panose="02020603050405020304" pitchFamily="18" charset="0"/>
            </a:endParaRPr>
          </a:p>
          <a:p>
            <a:pPr>
              <a:lnSpc>
                <a:spcPct val="150000"/>
              </a:lnSpc>
            </a:pPr>
            <a:r>
              <a:rPr lang="en-US" sz="2000" dirty="0"/>
              <a:t>The hardware integration of the proposed Dual Layer Steganography system involves the coordination between system components such as the processor, memory, storage, and display to ensure smooth execution of all operations.</a:t>
            </a:r>
          </a:p>
          <a:p>
            <a:pPr marL="0" indent="0">
              <a:lnSpc>
                <a:spcPct val="150000"/>
              </a:lnSpc>
              <a:buNone/>
            </a:pPr>
            <a:r>
              <a:rPr lang="en-US" sz="2000" dirty="0">
                <a:latin typeface="Times New Roman" panose="02020603050405020304" pitchFamily="18" charset="0"/>
                <a:cs typeface="Times New Roman" panose="02020603050405020304" pitchFamily="18" charset="0"/>
              </a:rPr>
              <a:t>• </a:t>
            </a:r>
            <a:r>
              <a:rPr lang="en-US" sz="2000" dirty="0"/>
              <a:t>The system is designed to run on standard computing devices where the CPU handles encryption, hashing, and steganography processes, while the RAM supports temporary data processing during embedding and extraction.</a:t>
            </a:r>
          </a:p>
          <a:p>
            <a:pPr marL="0" indent="0">
              <a:lnSpc>
                <a:spcPct val="150000"/>
              </a:lnSpc>
              <a:buNone/>
            </a:pPr>
            <a:r>
              <a:rPr lang="en-US" sz="2000" dirty="0">
                <a:latin typeface="Times New Roman" panose="02020603050405020304" pitchFamily="18" charset="0"/>
                <a:cs typeface="Times New Roman" panose="02020603050405020304" pitchFamily="18" charset="0"/>
              </a:rPr>
              <a:t>• </a:t>
            </a:r>
            <a:r>
              <a:rPr lang="en-US" sz="2000" dirty="0"/>
              <a:t>The integration ensures that image processing operations using OpenCV, NumPy, and PIL are efficiently executed using system memory without overloading resources.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09395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CF38C-C5C2-C27B-3666-4F5A96791EA6}"/>
              </a:ext>
            </a:extLst>
          </p:cNvPr>
          <p:cNvSpPr>
            <a:spLocks noGrp="1"/>
          </p:cNvSpPr>
          <p:nvPr>
            <p:ph type="title"/>
          </p:nvPr>
        </p:nvSpPr>
        <p:spPr>
          <a:xfrm>
            <a:off x="1399033" y="568062"/>
            <a:ext cx="8986935" cy="673036"/>
          </a:xfrm>
        </p:spPr>
        <p:txBody>
          <a:bodyPr>
            <a:normAutofit fontScale="90000"/>
          </a:bodyPr>
          <a:lstStyle/>
          <a:p>
            <a:r>
              <a:rPr lang="en-IN" dirty="0"/>
              <a:t>                    </a:t>
            </a:r>
            <a:r>
              <a:rPr lang="en-US" sz="4900" b="1" dirty="0">
                <a:latin typeface="Times New Roman" panose="02020603050405020304" pitchFamily="18" charset="0"/>
                <a:cs typeface="Times New Roman" panose="02020603050405020304" pitchFamily="18" charset="0"/>
              </a:rPr>
              <a:t>IMPLEMENTATION</a:t>
            </a:r>
            <a:endParaRPr lang="en-IN" sz="4900" dirty="0"/>
          </a:p>
        </p:txBody>
      </p:sp>
      <p:sp>
        <p:nvSpPr>
          <p:cNvPr id="4" name="Date Placeholder 3">
            <a:extLst>
              <a:ext uri="{FF2B5EF4-FFF2-40B4-BE49-F238E27FC236}">
                <a16:creationId xmlns:a16="http://schemas.microsoft.com/office/drawing/2014/main" id="{292AE957-3677-7E69-8395-A001F3D83EF2}"/>
              </a:ext>
            </a:extLst>
          </p:cNvPr>
          <p:cNvSpPr>
            <a:spLocks noGrp="1"/>
          </p:cNvSpPr>
          <p:nvPr>
            <p:ph type="dt" sz="half" idx="10"/>
          </p:nvPr>
        </p:nvSpPr>
        <p:spPr/>
        <p:txBody>
          <a:bodyPr/>
          <a:lstStyle/>
          <a:p>
            <a:fld id="{529ADD24-D6CC-47F9-9593-83C62B364C8F}" type="datetime1">
              <a:rPr lang="en-IN" smtClean="0"/>
              <a:t>10-04-2026</a:t>
            </a:fld>
            <a:endParaRPr lang="en-IN"/>
          </a:p>
        </p:txBody>
      </p:sp>
      <p:sp>
        <p:nvSpPr>
          <p:cNvPr id="5" name="Footer Placeholder 4">
            <a:extLst>
              <a:ext uri="{FF2B5EF4-FFF2-40B4-BE49-F238E27FC236}">
                <a16:creationId xmlns:a16="http://schemas.microsoft.com/office/drawing/2014/main" id="{3DB6AC70-39B3-9991-D3B7-B7594CEAA39B}"/>
              </a:ext>
            </a:extLst>
          </p:cNvPr>
          <p:cNvSpPr>
            <a:spLocks noGrp="1"/>
          </p:cNvSpPr>
          <p:nvPr>
            <p:ph type="ftr" sz="quarter" idx="11"/>
          </p:nvPr>
        </p:nvSpPr>
        <p:spPr/>
        <p:txBody>
          <a:bodyPr/>
          <a:lstStyle/>
          <a:p>
            <a:r>
              <a:rPr lang="en-US" dirty="0"/>
              <a:t>Batch No. 12  Department of Cyber Security</a:t>
            </a:r>
            <a:endParaRPr lang="en-IN" dirty="0"/>
          </a:p>
        </p:txBody>
      </p:sp>
      <p:sp>
        <p:nvSpPr>
          <p:cNvPr id="6" name="Slide Number Placeholder 5">
            <a:extLst>
              <a:ext uri="{FF2B5EF4-FFF2-40B4-BE49-F238E27FC236}">
                <a16:creationId xmlns:a16="http://schemas.microsoft.com/office/drawing/2014/main" id="{D8EFF900-5D43-33CC-0E13-090D81AEE42B}"/>
              </a:ext>
            </a:extLst>
          </p:cNvPr>
          <p:cNvSpPr>
            <a:spLocks noGrp="1"/>
          </p:cNvSpPr>
          <p:nvPr>
            <p:ph type="sldNum" sz="quarter" idx="12"/>
          </p:nvPr>
        </p:nvSpPr>
        <p:spPr/>
        <p:txBody>
          <a:bodyPr/>
          <a:lstStyle/>
          <a:p>
            <a:fld id="{65DCBD69-296B-4D7C-AF62-9B588FC78772}" type="slidenum">
              <a:rPr lang="en-IN" smtClean="0"/>
              <a:t>24</a:t>
            </a:fld>
            <a:endParaRPr lang="en-IN"/>
          </a:p>
        </p:txBody>
      </p:sp>
      <p:sp>
        <p:nvSpPr>
          <p:cNvPr id="3" name="Rectangle 2"/>
          <p:cNvSpPr/>
          <p:nvPr/>
        </p:nvSpPr>
        <p:spPr>
          <a:xfrm>
            <a:off x="8487358" y="1242007"/>
            <a:ext cx="3200400" cy="212883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0"/>
          <p:cNvSpPr>
            <a:spLocks noChangeArrowheads="1"/>
          </p:cNvSpPr>
          <p:nvPr/>
        </p:nvSpPr>
        <p:spPr bwMode="auto">
          <a:xfrm>
            <a:off x="838200" y="1798593"/>
            <a:ext cx="1095421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2000" b="1" dirty="0"/>
              <a:t>Data Security Risks</a:t>
            </a:r>
          </a:p>
          <a:p>
            <a:r>
              <a:rPr lang="en-US" sz="2000" b="1" dirty="0"/>
              <a:t>Challenge:</a:t>
            </a:r>
            <a:r>
              <a:rPr lang="en-US" sz="2000" dirty="0"/>
              <a:t> Sensitive data may be exposed if encryption is weak or compromised.</a:t>
            </a:r>
            <a:br>
              <a:rPr lang="en-US" sz="2000" dirty="0"/>
            </a:br>
            <a:r>
              <a:rPr lang="en-US" sz="2000" b="1" dirty="0"/>
              <a:t>Solution:</a:t>
            </a:r>
            <a:r>
              <a:rPr lang="en-US" sz="2000" dirty="0"/>
              <a:t> Implemented AES encryption with strong key generation using SHA-256 for enhanced security</a:t>
            </a:r>
            <a:r>
              <a:rPr lang="en-US" sz="2000" dirty="0">
                <a:latin typeface="Times New Roman" panose="02020603050405020304" pitchFamily="18" charset="0"/>
                <a:cs typeface="Times New Roman" panose="02020603050405020304" pitchFamily="18" charset="0"/>
              </a:rPr>
              <a:t>.</a:t>
            </a:r>
            <a:endParaRPr lang="en-US" sz="2000" dirty="0"/>
          </a:p>
        </p:txBody>
      </p:sp>
      <p:sp>
        <p:nvSpPr>
          <p:cNvPr id="19" name="Rectangle 12"/>
          <p:cNvSpPr>
            <a:spLocks noChangeArrowheads="1"/>
          </p:cNvSpPr>
          <p:nvPr/>
        </p:nvSpPr>
        <p:spPr bwMode="auto">
          <a:xfrm>
            <a:off x="828467" y="3160455"/>
            <a:ext cx="11305146"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2000" b="1" dirty="0"/>
              <a:t>Limited Embedding Capacity</a:t>
            </a:r>
          </a:p>
          <a:p>
            <a:r>
              <a:rPr lang="en-US" sz="2000" b="1" dirty="0"/>
              <a:t>Challenge:</a:t>
            </a:r>
            <a:r>
              <a:rPr lang="en-US" sz="2000" dirty="0"/>
              <a:t> Small images may not have sufficient space to hide large amounts of data.</a:t>
            </a:r>
            <a:br>
              <a:rPr lang="en-US" sz="2000" dirty="0"/>
            </a:br>
            <a:r>
              <a:rPr lang="en-US" sz="2000" b="1" dirty="0"/>
              <a:t>Solution:</a:t>
            </a:r>
            <a:r>
              <a:rPr lang="en-US" sz="2000" dirty="0"/>
              <a:t> Used optimized LSB and DCT techniques and selected appropriate image sizes for better capacity.</a:t>
            </a:r>
          </a:p>
        </p:txBody>
      </p:sp>
      <p:sp>
        <p:nvSpPr>
          <p:cNvPr id="20" name="TextBox 19"/>
          <p:cNvSpPr txBox="1"/>
          <p:nvPr/>
        </p:nvSpPr>
        <p:spPr>
          <a:xfrm>
            <a:off x="828467" y="4415664"/>
            <a:ext cx="10128068" cy="1631216"/>
          </a:xfrm>
          <a:prstGeom prst="rect">
            <a:avLst/>
          </a:prstGeom>
          <a:noFill/>
        </p:spPr>
        <p:txBody>
          <a:bodyPr wrap="square" rtlCol="0">
            <a:spAutoFit/>
          </a:bodyPr>
          <a:lstStyle/>
          <a:p>
            <a:r>
              <a:rPr lang="en-US" sz="2000" b="1" dirty="0"/>
              <a:t>Image Quality Degradation</a:t>
            </a:r>
          </a:p>
          <a:p>
            <a:r>
              <a:rPr lang="en-US" sz="2000" b="1" dirty="0"/>
              <a:t>Challenge:</a:t>
            </a:r>
            <a:r>
              <a:rPr lang="en-US" sz="2000" dirty="0"/>
              <a:t> Embedding data can distort the image and reduce visual quality.</a:t>
            </a:r>
            <a:br>
              <a:rPr lang="en-US" sz="2000" dirty="0"/>
            </a:br>
            <a:r>
              <a:rPr lang="en-US" sz="2000" b="1" dirty="0"/>
              <a:t>Solution:</a:t>
            </a:r>
            <a:r>
              <a:rPr lang="en-US" sz="2000" dirty="0"/>
              <a:t> Modified only least significant bits and mid-frequency coefficients to maintain image quality.</a:t>
            </a:r>
          </a:p>
          <a:p>
            <a:endParaRPr lang="en-IN" sz="2000" dirty="0">
              <a:latin typeface="Times New Roman" panose="02020603050405020304" pitchFamily="18" charset="0"/>
              <a:cs typeface="Times New Roman" panose="02020603050405020304" pitchFamily="18" charset="0"/>
            </a:endParaRPr>
          </a:p>
        </p:txBody>
      </p:sp>
      <p:sp>
        <p:nvSpPr>
          <p:cNvPr id="21" name="TextBox 20"/>
          <p:cNvSpPr txBox="1"/>
          <p:nvPr/>
        </p:nvSpPr>
        <p:spPr>
          <a:xfrm>
            <a:off x="838200" y="1214050"/>
            <a:ext cx="568669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CHALLENGES FACED</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61393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latin typeface="Times New Roman" panose="02020603050405020304" pitchFamily="18" charset="0"/>
                <a:cs typeface="Times New Roman" panose="02020603050405020304" pitchFamily="18" charset="0"/>
              </a:rPr>
              <a:t>IMPLEMENTATION</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09302" y="1847850"/>
            <a:ext cx="10515600" cy="4351338"/>
          </a:xfrm>
        </p:spPr>
        <p:txBody>
          <a:bodyPr>
            <a:normAutofit/>
          </a:bodyPr>
          <a:lstStyle/>
          <a:p>
            <a:pPr marL="0" indent="0">
              <a:buNone/>
            </a:pPr>
            <a:r>
              <a:rPr lang="en-US" sz="2000" b="1" dirty="0"/>
              <a:t>Vulnerability to Attacks</a:t>
            </a:r>
          </a:p>
          <a:p>
            <a:pPr marL="0" indent="0">
              <a:buNone/>
            </a:pPr>
            <a:r>
              <a:rPr lang="en-US" sz="2000" b="1" dirty="0"/>
              <a:t>Challenge:</a:t>
            </a:r>
            <a:r>
              <a:rPr lang="en-US" sz="2000" dirty="0"/>
              <a:t> Hidden data may be detected or removed through compression or image processing.</a:t>
            </a:r>
            <a:br>
              <a:rPr lang="en-US" sz="2000" dirty="0"/>
            </a:br>
            <a:r>
              <a:rPr lang="en-US" sz="2000" b="1" dirty="0"/>
              <a:t>Solution:</a:t>
            </a:r>
            <a:r>
              <a:rPr lang="en-US" sz="2000" dirty="0"/>
              <a:t> Applied DCT-based embedding to improve robustness against compression and attacks.</a:t>
            </a:r>
          </a:p>
          <a:p>
            <a:pPr marL="0" indent="0">
              <a:buNone/>
            </a:pPr>
            <a:endParaRPr lang="en-US" sz="2000" dirty="0"/>
          </a:p>
          <a:p>
            <a:pPr marL="0" indent="0">
              <a:buNone/>
            </a:pPr>
            <a:r>
              <a:rPr lang="en-US" sz="2000" b="1" dirty="0"/>
              <a:t>Incorrect Password Handling</a:t>
            </a:r>
          </a:p>
          <a:p>
            <a:pPr marL="0" indent="0">
              <a:buNone/>
            </a:pPr>
            <a:r>
              <a:rPr lang="en-US" sz="2000" b="1" dirty="0"/>
              <a:t>Challenge:</a:t>
            </a:r>
            <a:r>
              <a:rPr lang="en-US" sz="2000" dirty="0"/>
              <a:t> Wrong password may lead to failed decryption or data loss.</a:t>
            </a:r>
            <a:br>
              <a:rPr lang="en-US" sz="2000" dirty="0"/>
            </a:br>
            <a:r>
              <a:rPr lang="en-US" sz="2000" b="1" dirty="0"/>
              <a:t>Solution:</a:t>
            </a:r>
            <a:r>
              <a:rPr lang="en-US" sz="2000" dirty="0"/>
              <a:t> Used SHA-256 verification to validate data integrity before decryption.</a:t>
            </a:r>
          </a:p>
          <a:p>
            <a:pPr marL="0" indent="0">
              <a:buNone/>
            </a:pPr>
            <a:endParaRPr lang="en-IN" sz="20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A9E2DEEC-9598-4FB8-B1E5-5438A62C9F63}" type="datetime1">
              <a:rPr lang="en-IN" smtClean="0"/>
              <a:t>10-04-2026</a:t>
            </a:fld>
            <a:endParaRPr lang="en-IN"/>
          </a:p>
        </p:txBody>
      </p:sp>
      <p:sp>
        <p:nvSpPr>
          <p:cNvPr id="5" name="Footer Placeholder 4"/>
          <p:cNvSpPr>
            <a:spLocks noGrp="1"/>
          </p:cNvSpPr>
          <p:nvPr>
            <p:ph type="ftr" sz="quarter" idx="11"/>
          </p:nvPr>
        </p:nvSpPr>
        <p:spPr/>
        <p:txBody>
          <a:bodyPr/>
          <a:lstStyle/>
          <a:p>
            <a:r>
              <a:rPr lang="en-US" dirty="0"/>
              <a:t>Batch No. 12  Department of Cyber Security</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25</a:t>
            </a:fld>
            <a:endParaRPr lang="en-IN"/>
          </a:p>
        </p:txBody>
      </p:sp>
      <p:sp>
        <p:nvSpPr>
          <p:cNvPr id="7" name="TextBox 6"/>
          <p:cNvSpPr txBox="1"/>
          <p:nvPr/>
        </p:nvSpPr>
        <p:spPr>
          <a:xfrm>
            <a:off x="409302" y="1293852"/>
            <a:ext cx="568669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CHALLENGES FACED</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44074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3DFBA-FF4A-DB47-91F6-28148E9B39C3}"/>
              </a:ext>
            </a:extLst>
          </p:cNvPr>
          <p:cNvSpPr>
            <a:spLocks noGrp="1"/>
          </p:cNvSpPr>
          <p:nvPr>
            <p:ph type="title"/>
          </p:nvPr>
        </p:nvSpPr>
        <p:spPr>
          <a:xfrm>
            <a:off x="703059" y="313367"/>
            <a:ext cx="10515600" cy="1325563"/>
          </a:xfrm>
        </p:spPr>
        <p:txBody>
          <a:bodyPr/>
          <a:lstStyle/>
          <a:p>
            <a:r>
              <a:rPr lang="en-US" b="1" dirty="0">
                <a:latin typeface="Times New Roman" panose="02020603050405020304" pitchFamily="18" charset="0"/>
                <a:cs typeface="Times New Roman" panose="02020603050405020304" pitchFamily="18" charset="0"/>
              </a:rPr>
              <a:t>                   IMPLEMENTATION</a:t>
            </a:r>
            <a:endParaRPr lang="en-IN" dirty="0"/>
          </a:p>
        </p:txBody>
      </p:sp>
      <p:sp>
        <p:nvSpPr>
          <p:cNvPr id="4" name="Date Placeholder 3">
            <a:extLst>
              <a:ext uri="{FF2B5EF4-FFF2-40B4-BE49-F238E27FC236}">
                <a16:creationId xmlns:a16="http://schemas.microsoft.com/office/drawing/2014/main" id="{3FB209B5-3A9B-2FE1-2B17-ABA092D25EBA}"/>
              </a:ext>
            </a:extLst>
          </p:cNvPr>
          <p:cNvSpPr>
            <a:spLocks noGrp="1"/>
          </p:cNvSpPr>
          <p:nvPr>
            <p:ph type="dt" sz="half" idx="10"/>
          </p:nvPr>
        </p:nvSpPr>
        <p:spPr/>
        <p:txBody>
          <a:bodyPr/>
          <a:lstStyle/>
          <a:p>
            <a:fld id="{530A20A6-7394-4F9B-BAA0-D6DCD1182851}" type="datetime1">
              <a:rPr lang="en-IN" smtClean="0"/>
              <a:t>10-04-2026</a:t>
            </a:fld>
            <a:endParaRPr lang="en-IN"/>
          </a:p>
        </p:txBody>
      </p:sp>
      <p:sp>
        <p:nvSpPr>
          <p:cNvPr id="5" name="Footer Placeholder 4">
            <a:extLst>
              <a:ext uri="{FF2B5EF4-FFF2-40B4-BE49-F238E27FC236}">
                <a16:creationId xmlns:a16="http://schemas.microsoft.com/office/drawing/2014/main" id="{C2ABC59F-007A-CF2A-525E-2F4DEE8C0A7F}"/>
              </a:ext>
            </a:extLst>
          </p:cNvPr>
          <p:cNvSpPr>
            <a:spLocks noGrp="1"/>
          </p:cNvSpPr>
          <p:nvPr>
            <p:ph type="ftr" sz="quarter" idx="11"/>
          </p:nvPr>
        </p:nvSpPr>
        <p:spPr/>
        <p:txBody>
          <a:bodyPr/>
          <a:lstStyle/>
          <a:p>
            <a:r>
              <a:rPr lang="en-US" dirty="0"/>
              <a:t>Batch No. 12  Department of Cyber Security</a:t>
            </a:r>
            <a:endParaRPr lang="en-IN" dirty="0"/>
          </a:p>
        </p:txBody>
      </p:sp>
      <p:sp>
        <p:nvSpPr>
          <p:cNvPr id="6" name="Slide Number Placeholder 5">
            <a:extLst>
              <a:ext uri="{FF2B5EF4-FFF2-40B4-BE49-F238E27FC236}">
                <a16:creationId xmlns:a16="http://schemas.microsoft.com/office/drawing/2014/main" id="{0B9FD904-8767-2E61-E97D-F085575ECCA8}"/>
              </a:ext>
            </a:extLst>
          </p:cNvPr>
          <p:cNvSpPr>
            <a:spLocks noGrp="1"/>
          </p:cNvSpPr>
          <p:nvPr>
            <p:ph type="sldNum" sz="quarter" idx="12"/>
          </p:nvPr>
        </p:nvSpPr>
        <p:spPr/>
        <p:txBody>
          <a:bodyPr/>
          <a:lstStyle/>
          <a:p>
            <a:fld id="{65DCBD69-296B-4D7C-AF62-9B588FC78772}" type="slidenum">
              <a:rPr lang="en-IN" smtClean="0"/>
              <a:t>26</a:t>
            </a:fld>
            <a:endParaRPr lang="en-IN"/>
          </a:p>
        </p:txBody>
      </p:sp>
      <p:sp>
        <p:nvSpPr>
          <p:cNvPr id="7" name="Rectangle 1">
            <a:extLst>
              <a:ext uri="{FF2B5EF4-FFF2-40B4-BE49-F238E27FC236}">
                <a16:creationId xmlns:a16="http://schemas.microsoft.com/office/drawing/2014/main" id="{1F97BD9E-A724-C8BF-0B20-E8D77E3A009C}"/>
              </a:ext>
            </a:extLst>
          </p:cNvPr>
          <p:cNvSpPr>
            <a:spLocks noGrp="1" noChangeArrowheads="1"/>
          </p:cNvSpPr>
          <p:nvPr>
            <p:ph idx="1"/>
          </p:nvPr>
        </p:nvSpPr>
        <p:spPr bwMode="auto">
          <a:xfrm>
            <a:off x="766041" y="1236090"/>
            <a:ext cx="10389637" cy="55748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1600" b="1" dirty="0">
                <a:latin typeface="Times New Roman" panose="02020603050405020304" pitchFamily="18" charset="0"/>
                <a:cs typeface="Times New Roman" panose="02020603050405020304" pitchFamily="18" charset="0"/>
              </a:rPr>
              <a:t>1.Data Input</a:t>
            </a:r>
          </a:p>
          <a:p>
            <a:pPr marL="0" indent="0">
              <a:buNone/>
            </a:pPr>
            <a:r>
              <a:rPr lang="en-US" sz="1600" b="1" dirty="0">
                <a:latin typeface="Times New Roman" panose="02020603050405020304" pitchFamily="18" charset="0"/>
                <a:cs typeface="Times New Roman" panose="02020603050405020304" pitchFamily="18" charset="0"/>
              </a:rPr>
              <a:t>   Process:</a:t>
            </a:r>
            <a:r>
              <a:rPr lang="en-US" sz="1600" dirty="0">
                <a:latin typeface="Times New Roman" panose="02020603050405020304" pitchFamily="18" charset="0"/>
                <a:cs typeface="Times New Roman" panose="02020603050405020304" pitchFamily="18" charset="0"/>
              </a:rPr>
              <a:t> User provides plaintext message, password, and selects a cover image through the GUI.</a:t>
            </a:r>
          </a:p>
          <a:p>
            <a:pPr marL="0" indent="0">
              <a:buNone/>
            </a:pPr>
            <a:r>
              <a:rPr lang="en-US" sz="1600" b="1" dirty="0">
                <a:latin typeface="Times New Roman" panose="02020603050405020304" pitchFamily="18" charset="0"/>
                <a:cs typeface="Times New Roman" panose="02020603050405020304" pitchFamily="18" charset="0"/>
              </a:rPr>
              <a:t>2.Encryption</a:t>
            </a:r>
          </a:p>
          <a:p>
            <a:pPr marL="0" indent="0">
              <a:buNone/>
            </a:pPr>
            <a:r>
              <a:rPr lang="en-US" sz="1600" b="1" dirty="0">
                <a:latin typeface="Times New Roman" panose="02020603050405020304" pitchFamily="18" charset="0"/>
                <a:cs typeface="Times New Roman" panose="02020603050405020304" pitchFamily="18" charset="0"/>
              </a:rPr>
              <a:t>   Process:</a:t>
            </a:r>
            <a:r>
              <a:rPr lang="en-US" sz="1600" dirty="0">
                <a:latin typeface="Times New Roman" panose="02020603050405020304" pitchFamily="18" charset="0"/>
                <a:cs typeface="Times New Roman" panose="02020603050405020304" pitchFamily="18" charset="0"/>
              </a:rPr>
              <a:t> The plaintext message is encrypted using AES with a key generated from the password using SHA-256.</a:t>
            </a:r>
          </a:p>
          <a:p>
            <a:pPr marL="0" indent="0">
              <a:buNone/>
            </a:pPr>
            <a:r>
              <a:rPr lang="en-US" sz="1600" b="1" dirty="0">
                <a:latin typeface="Times New Roman" panose="02020603050405020304" pitchFamily="18" charset="0"/>
                <a:cs typeface="Times New Roman" panose="02020603050405020304" pitchFamily="18" charset="0"/>
              </a:rPr>
              <a:t>3.Authentication</a:t>
            </a:r>
          </a:p>
          <a:p>
            <a:pPr marL="0" indent="0">
              <a:buNone/>
            </a:pPr>
            <a:r>
              <a:rPr lang="en-US" sz="1600" b="1" dirty="0">
                <a:latin typeface="Times New Roman" panose="02020603050405020304" pitchFamily="18" charset="0"/>
                <a:cs typeface="Times New Roman" panose="02020603050405020304" pitchFamily="18" charset="0"/>
              </a:rPr>
              <a:t>   Process:</a:t>
            </a:r>
            <a:r>
              <a:rPr lang="en-US" sz="1600" dirty="0">
                <a:latin typeface="Times New Roman" panose="02020603050405020304" pitchFamily="18" charset="0"/>
                <a:cs typeface="Times New Roman" panose="02020603050405020304" pitchFamily="18" charset="0"/>
              </a:rPr>
              <a:t> A SHA-256 hash is generated and appended to the encrypted data to ensure integrity.</a:t>
            </a:r>
          </a:p>
          <a:p>
            <a:pPr marL="0" indent="0">
              <a:buNone/>
            </a:pPr>
            <a:r>
              <a:rPr lang="en-US" sz="1600" b="1" dirty="0">
                <a:latin typeface="Times New Roman" panose="02020603050405020304" pitchFamily="18" charset="0"/>
                <a:cs typeface="Times New Roman" panose="02020603050405020304" pitchFamily="18" charset="0"/>
              </a:rPr>
              <a:t>4.Data Embedding</a:t>
            </a:r>
          </a:p>
          <a:p>
            <a:pPr marL="0" indent="0">
              <a:buNone/>
            </a:pPr>
            <a:r>
              <a:rPr lang="en-US" sz="1600" b="1" dirty="0">
                <a:latin typeface="Times New Roman" panose="02020603050405020304" pitchFamily="18" charset="0"/>
                <a:cs typeface="Times New Roman" panose="02020603050405020304" pitchFamily="18" charset="0"/>
              </a:rPr>
              <a:t>   Process:</a:t>
            </a:r>
            <a:r>
              <a:rPr lang="en-US" sz="1600" dirty="0">
                <a:latin typeface="Times New Roman" panose="02020603050405020304" pitchFamily="18" charset="0"/>
                <a:cs typeface="Times New Roman" panose="02020603050405020304" pitchFamily="18" charset="0"/>
              </a:rPr>
              <a:t> The encrypted data is embedded into the image using LSB or DCT steganography techniques.</a:t>
            </a:r>
          </a:p>
          <a:p>
            <a:pPr marL="0" indent="0">
              <a:buNone/>
            </a:pPr>
            <a:r>
              <a:rPr lang="en-US" sz="1600" b="1" dirty="0">
                <a:latin typeface="Times New Roman" panose="02020603050405020304" pitchFamily="18" charset="0"/>
                <a:cs typeface="Times New Roman" panose="02020603050405020304" pitchFamily="18" charset="0"/>
              </a:rPr>
              <a:t>5.Stego Image Generation</a:t>
            </a:r>
          </a:p>
          <a:p>
            <a:pPr marL="0" indent="0">
              <a:buNone/>
            </a:pPr>
            <a:r>
              <a:rPr lang="en-US" sz="1600" b="1" dirty="0">
                <a:latin typeface="Times New Roman" panose="02020603050405020304" pitchFamily="18" charset="0"/>
                <a:cs typeface="Times New Roman" panose="02020603050405020304" pitchFamily="18" charset="0"/>
              </a:rPr>
              <a:t>   Process:</a:t>
            </a:r>
            <a:r>
              <a:rPr lang="en-US" sz="1600" dirty="0">
                <a:latin typeface="Times New Roman" panose="02020603050405020304" pitchFamily="18" charset="0"/>
                <a:cs typeface="Times New Roman" panose="02020603050405020304" pitchFamily="18" charset="0"/>
              </a:rPr>
              <a:t> The modified image is saved as a </a:t>
            </a:r>
            <a:r>
              <a:rPr lang="en-US" sz="1600" dirty="0" err="1">
                <a:latin typeface="Times New Roman" panose="02020603050405020304" pitchFamily="18" charset="0"/>
                <a:cs typeface="Times New Roman" panose="02020603050405020304" pitchFamily="18" charset="0"/>
              </a:rPr>
              <a:t>stego</a:t>
            </a:r>
            <a:r>
              <a:rPr lang="en-US" sz="1600" dirty="0">
                <a:latin typeface="Times New Roman" panose="02020603050405020304" pitchFamily="18" charset="0"/>
                <a:cs typeface="Times New Roman" panose="02020603050405020304" pitchFamily="18" charset="0"/>
              </a:rPr>
              <a:t> image containing hidden data.</a:t>
            </a:r>
          </a:p>
          <a:p>
            <a:pPr marL="0" indent="0">
              <a:buNone/>
            </a:pPr>
            <a:r>
              <a:rPr lang="en-US" sz="1600" b="1" dirty="0">
                <a:latin typeface="Times New Roman" panose="02020603050405020304" pitchFamily="18" charset="0"/>
                <a:cs typeface="Times New Roman" panose="02020603050405020304" pitchFamily="18" charset="0"/>
              </a:rPr>
              <a:t>6.Data Extraction</a:t>
            </a:r>
          </a:p>
          <a:p>
            <a:pPr marL="0" indent="0">
              <a:buNone/>
            </a:pPr>
            <a:r>
              <a:rPr lang="en-US" sz="1600" b="1" dirty="0">
                <a:latin typeface="Times New Roman" panose="02020603050405020304" pitchFamily="18" charset="0"/>
                <a:cs typeface="Times New Roman" panose="02020603050405020304" pitchFamily="18" charset="0"/>
              </a:rPr>
              <a:t>   Process:</a:t>
            </a:r>
            <a:r>
              <a:rPr lang="en-US" sz="1600" dirty="0">
                <a:latin typeface="Times New Roman" panose="02020603050405020304" pitchFamily="18" charset="0"/>
                <a:cs typeface="Times New Roman" panose="02020603050405020304" pitchFamily="18" charset="0"/>
              </a:rPr>
              <a:t> The hidden data is extracted from the </a:t>
            </a:r>
            <a:r>
              <a:rPr lang="en-US" sz="1600" dirty="0" err="1">
                <a:latin typeface="Times New Roman" panose="02020603050405020304" pitchFamily="18" charset="0"/>
                <a:cs typeface="Times New Roman" panose="02020603050405020304" pitchFamily="18" charset="0"/>
              </a:rPr>
              <a:t>stego</a:t>
            </a:r>
            <a:r>
              <a:rPr lang="en-US" sz="1600" dirty="0">
                <a:latin typeface="Times New Roman" panose="02020603050405020304" pitchFamily="18" charset="0"/>
                <a:cs typeface="Times New Roman" panose="02020603050405020304" pitchFamily="18" charset="0"/>
              </a:rPr>
              <a:t> image using the selected method (LSB/DCT).</a:t>
            </a:r>
          </a:p>
          <a:p>
            <a:pPr marL="0" indent="0">
              <a:buNone/>
            </a:pPr>
            <a:r>
              <a:rPr lang="en-US" sz="1600" b="1" dirty="0">
                <a:latin typeface="Times New Roman" panose="02020603050405020304" pitchFamily="18" charset="0"/>
                <a:cs typeface="Times New Roman" panose="02020603050405020304" pitchFamily="18" charset="0"/>
              </a:rPr>
              <a:t>7.Verification &amp; Decryption</a:t>
            </a:r>
          </a:p>
          <a:p>
            <a:pPr marL="0" indent="0">
              <a:buNone/>
            </a:pPr>
            <a:r>
              <a:rPr lang="en-US" sz="1600" b="1" dirty="0">
                <a:latin typeface="Times New Roman" panose="02020603050405020304" pitchFamily="18" charset="0"/>
                <a:cs typeface="Times New Roman" panose="02020603050405020304" pitchFamily="18" charset="0"/>
              </a:rPr>
              <a:t>    Process:</a:t>
            </a:r>
            <a:r>
              <a:rPr lang="en-US" sz="1600" dirty="0">
                <a:latin typeface="Times New Roman" panose="02020603050405020304" pitchFamily="18" charset="0"/>
                <a:cs typeface="Times New Roman" panose="02020603050405020304" pitchFamily="18" charset="0"/>
              </a:rPr>
              <a:t> The extracted data is verified using SHA-256 and decrypted using AES to obtain the original message.</a:t>
            </a:r>
          </a:p>
          <a:p>
            <a:endParaRPr lang="en-IN" sz="20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70435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861029" y="183858"/>
            <a:ext cx="10515600" cy="1325563"/>
          </a:xfrm>
        </p:spPr>
        <p:txBody>
          <a:bodyPr/>
          <a:lstStyle/>
          <a:p>
            <a:pPr algn="ctr"/>
            <a:r>
              <a:rPr lang="en-US" b="1" dirty="0">
                <a:latin typeface="Times New Roman" panose="02020603050405020304" pitchFamily="18" charset="0"/>
                <a:cs typeface="Times New Roman" panose="02020603050405020304" pitchFamily="18" charset="0"/>
              </a:rPr>
              <a:t>RESULTS &amp; ANALYSIS</a:t>
            </a:r>
          </a:p>
        </p:txBody>
      </p:sp>
      <p:sp>
        <p:nvSpPr>
          <p:cNvPr id="9" name="Content Placeholder 8"/>
          <p:cNvSpPr>
            <a:spLocks noGrp="1"/>
          </p:cNvSpPr>
          <p:nvPr>
            <p:ph idx="1"/>
          </p:nvPr>
        </p:nvSpPr>
        <p:spPr>
          <a:xfrm>
            <a:off x="391239" y="1191628"/>
            <a:ext cx="6380322" cy="5164722"/>
          </a:xfrm>
        </p:spPr>
        <p:txBody>
          <a:bodyPr>
            <a:noAutofit/>
          </a:bodyPr>
          <a:lstStyle/>
          <a:p>
            <a:pPr marL="0" indent="0">
              <a:buNone/>
            </a:pPr>
            <a:r>
              <a:rPr lang="en-US" b="1" dirty="0">
                <a:latin typeface="Times New Roman" panose="02020603050405020304" pitchFamily="18" charset="0"/>
                <a:cs typeface="Times New Roman" panose="02020603050405020304" pitchFamily="18" charset="0"/>
              </a:rPr>
              <a:t>Before Encryption</a:t>
            </a:r>
          </a:p>
          <a:p>
            <a:pPr marL="0" indent="0">
              <a:buNone/>
            </a:pPr>
            <a:r>
              <a:rPr lang="en-US" dirty="0">
                <a:latin typeface="Times New Roman" panose="02020603050405020304" pitchFamily="18" charset="0"/>
                <a:cs typeface="Times New Roman" panose="02020603050405020304" pitchFamily="18" charset="0"/>
              </a:rPr>
              <a:t>Before encryption, the input data is in its original plaintext form, which is easily readable and understandable. At this stage, the message is vulnerable to unauthorized access, interception, and tampering if transmitted directly over a network. This highlights the need for applying encryption techniques to secure the data before embedding it into the image.</a:t>
            </a:r>
          </a:p>
          <a:p>
            <a:endParaRPr lang="en-IN"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fld id="{B8989890-8369-4712-8777-C5A679B7B96E}" type="datetime1">
              <a:rPr lang="en-IN" smtClean="0">
                <a:latin typeface="Times New Roman" panose="02020603050405020304" pitchFamily="18" charset="0"/>
                <a:cs typeface="Times New Roman" panose="02020603050405020304" pitchFamily="18" charset="0"/>
              </a:rPr>
              <a:t>10-04-2026</a:t>
            </a:fld>
            <a:endParaRPr lang="en-US" dirty="0">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a:xfrm>
            <a:off x="4343400" y="6356350"/>
            <a:ext cx="4114800" cy="365125"/>
          </a:xfrm>
        </p:spPr>
        <p:txBody>
          <a:bodyPr/>
          <a:lstStyle/>
          <a:p>
            <a:r>
              <a:rPr lang="en-US" dirty="0">
                <a:latin typeface="Times New Roman" panose="02020603050405020304" pitchFamily="18" charset="0"/>
                <a:cs typeface="Times New Roman" panose="02020603050405020304" pitchFamily="18" charset="0"/>
              </a:rPr>
              <a:t>Batch No. 12  Department of Cyber Security</a:t>
            </a: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27</a:t>
            </a:fld>
            <a:endParaRPr lang="en-US" dirty="0">
              <a:latin typeface="Times New Roman" panose="02020603050405020304" pitchFamily="18" charset="0"/>
              <a:cs typeface="Times New Roman" panose="02020603050405020304" pitchFamily="18" charset="0"/>
            </a:endParaRPr>
          </a:p>
        </p:txBody>
      </p:sp>
      <p:sp>
        <p:nvSpPr>
          <p:cNvPr id="2" name="AutoShape 2" descr="Uploaded image">
            <a:extLst>
              <a:ext uri="{FF2B5EF4-FFF2-40B4-BE49-F238E27FC236}">
                <a16:creationId xmlns:a16="http://schemas.microsoft.com/office/drawing/2014/main" id="{D2DB489F-6C16-536A-33CE-DBDF5917143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4" descr="Uploaded image">
            <a:extLst>
              <a:ext uri="{FF2B5EF4-FFF2-40B4-BE49-F238E27FC236}">
                <a16:creationId xmlns:a16="http://schemas.microsoft.com/office/drawing/2014/main" id="{4AB638A7-8838-C225-601A-24C2C47791BA}"/>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Rectangle 1"/>
          <p:cNvSpPr>
            <a:spLocks noChangeArrowheads="1"/>
          </p:cNvSpPr>
          <p:nvPr/>
        </p:nvSpPr>
        <p:spPr bwMode="auto">
          <a:xfrm>
            <a:off x="0" y="-3231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5" name="Picture 14"/>
          <p:cNvPicPr>
            <a:picLocks noChangeAspect="1"/>
          </p:cNvPicPr>
          <p:nvPr/>
        </p:nvPicPr>
        <p:blipFill>
          <a:blip r:embed="rId2">
            <a:extLst>
              <a:ext uri="{28A0092B-C50C-407E-A947-70E740481C1C}">
                <a14:useLocalDpi xmlns:a14="http://schemas.microsoft.com/office/drawing/2010/main" val="0"/>
              </a:ext>
            </a:extLst>
          </a:blip>
          <a:srcRect/>
          <a:stretch/>
        </p:blipFill>
        <p:spPr>
          <a:xfrm>
            <a:off x="7241351" y="1799040"/>
            <a:ext cx="4660411" cy="3564718"/>
          </a:xfrm>
          <a:prstGeom prst="rect">
            <a:avLst/>
          </a:prstGeom>
        </p:spPr>
      </p:pic>
    </p:spTree>
    <p:extLst>
      <p:ext uri="{BB962C8B-B14F-4D97-AF65-F5344CB8AC3E}">
        <p14:creationId xmlns:p14="http://schemas.microsoft.com/office/powerpoint/2010/main" val="7709785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838200" y="500986"/>
            <a:ext cx="10515600" cy="1325563"/>
          </a:xfrm>
        </p:spPr>
        <p:txBody>
          <a:bodyPr/>
          <a:lstStyle/>
          <a:p>
            <a:pPr algn="ctr"/>
            <a:r>
              <a:rPr lang="en-US" b="1" dirty="0">
                <a:latin typeface="Times New Roman" panose="02020603050405020304" pitchFamily="18" charset="0"/>
                <a:cs typeface="Times New Roman" panose="02020603050405020304" pitchFamily="18" charset="0"/>
              </a:rPr>
              <a:t>RESULTS &amp; ANALYSIS</a:t>
            </a:r>
            <a:br>
              <a:rPr lang="en-US" b="1" dirty="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
        <p:nvSpPr>
          <p:cNvPr id="9" name="Content Placeholder 8"/>
          <p:cNvSpPr>
            <a:spLocks noGrp="1"/>
          </p:cNvSpPr>
          <p:nvPr>
            <p:ph idx="1"/>
          </p:nvPr>
        </p:nvSpPr>
        <p:spPr/>
        <p:txBody>
          <a:bodyPr>
            <a:normAutofit/>
          </a:bodyPr>
          <a:lstStyle/>
          <a:p>
            <a:endParaRPr lang="en-IN"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fld id="{45B44575-DE46-4060-8F08-C02EE5B7F46B}" type="datetime1">
              <a:rPr lang="en-IN" smtClean="0">
                <a:latin typeface="Times New Roman" panose="02020603050405020304" pitchFamily="18" charset="0"/>
                <a:cs typeface="Times New Roman" panose="02020603050405020304" pitchFamily="18" charset="0"/>
              </a:rPr>
              <a:t>10-04-2026</a:t>
            </a:fld>
            <a:endParaRPr lang="en-US" dirty="0">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Batch No. 12  Department of Cyber Security</a:t>
            </a: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28</a:t>
            </a:fld>
            <a:endParaRPr lang="en-US">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rcRect/>
          <a:stretch/>
        </p:blipFill>
        <p:spPr>
          <a:xfrm>
            <a:off x="6095194" y="1237222"/>
            <a:ext cx="5472090" cy="4236646"/>
          </a:xfrm>
          <a:prstGeom prst="rect">
            <a:avLst/>
          </a:prstGeom>
        </p:spPr>
      </p:pic>
      <p:sp>
        <p:nvSpPr>
          <p:cNvPr id="10" name="TextBox 9">
            <a:extLst>
              <a:ext uri="{FF2B5EF4-FFF2-40B4-BE49-F238E27FC236}">
                <a16:creationId xmlns:a16="http://schemas.microsoft.com/office/drawing/2014/main" id="{6A56B7C1-735B-3E72-B2F9-216A9CD28CB6}"/>
              </a:ext>
            </a:extLst>
          </p:cNvPr>
          <p:cNvSpPr txBox="1"/>
          <p:nvPr/>
        </p:nvSpPr>
        <p:spPr>
          <a:xfrm>
            <a:off x="149290" y="1548882"/>
            <a:ext cx="5732420" cy="3785652"/>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After </a:t>
            </a:r>
            <a:r>
              <a:rPr lang="en-US" sz="2400" dirty="0" err="1">
                <a:latin typeface="Times New Roman" panose="02020603050405020304" pitchFamily="18" charset="0"/>
                <a:cs typeface="Times New Roman" panose="02020603050405020304" pitchFamily="18" charset="0"/>
              </a:rPr>
              <a:t>EncryptionAfter</a:t>
            </a:r>
            <a:r>
              <a:rPr lang="en-US" sz="2400" dirty="0">
                <a:latin typeface="Times New Roman" panose="02020603050405020304" pitchFamily="18" charset="0"/>
                <a:cs typeface="Times New Roman" panose="02020603050405020304" pitchFamily="18" charset="0"/>
              </a:rPr>
              <a:t> encryption, the plaintext message is converted into ciphertext using the AES algorithm. The encrypted data appears as unreadable and random characters, ensuring that even if the data is accessed, it cannot be understood without the correct key. This stage enhances the confidentiality of the data and prepares it for secure embedding using steganography techniques.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20894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812074" y="422812"/>
            <a:ext cx="10515600" cy="1325563"/>
          </a:xfrm>
        </p:spPr>
        <p:txBody>
          <a:bodyPr/>
          <a:lstStyle/>
          <a:p>
            <a:pPr algn="ctr"/>
            <a:r>
              <a:rPr lang="en-US" b="1" dirty="0">
                <a:latin typeface="Times New Roman" panose="02020603050405020304" pitchFamily="18" charset="0"/>
                <a:cs typeface="Times New Roman" panose="02020603050405020304" pitchFamily="18" charset="0"/>
              </a:rPr>
              <a:t>RESULTS &amp; ANALYSIS</a:t>
            </a:r>
          </a:p>
        </p:txBody>
      </p:sp>
      <p:sp>
        <p:nvSpPr>
          <p:cNvPr id="9" name="Content Placeholder 8"/>
          <p:cNvSpPr>
            <a:spLocks noGrp="1"/>
          </p:cNvSpPr>
          <p:nvPr>
            <p:ph idx="1"/>
          </p:nvPr>
        </p:nvSpPr>
        <p:spPr/>
        <p:txBody>
          <a:bodyPr>
            <a:normAutofit/>
          </a:bodyPr>
          <a:lstStyle/>
          <a:p>
            <a:endParaRPr lang="en-IN"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fld id="{9A9F14B7-35D9-42EB-89B9-FAC677DC94C1}" type="datetime1">
              <a:rPr lang="en-IN" smtClean="0">
                <a:latin typeface="Times New Roman" panose="02020603050405020304" pitchFamily="18" charset="0"/>
                <a:cs typeface="Times New Roman" panose="02020603050405020304" pitchFamily="18" charset="0"/>
              </a:rPr>
              <a:t>10-04-2026</a:t>
            </a:fld>
            <a:endParaRPr lang="en-US" dirty="0">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Batch No. 12  Department of Cyber Security</a:t>
            </a: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29</a:t>
            </a:fld>
            <a:endParaRPr lang="en-US">
              <a:latin typeface="Times New Roman" panose="02020603050405020304" pitchFamily="18" charset="0"/>
              <a:cs typeface="Times New Roman" panose="02020603050405020304" pitchFamily="18" charset="0"/>
            </a:endParaRPr>
          </a:p>
        </p:txBody>
      </p:sp>
      <p:sp>
        <p:nvSpPr>
          <p:cNvPr id="10" name="Rectangle 1">
            <a:extLst>
              <a:ext uri="{FF2B5EF4-FFF2-40B4-BE49-F238E27FC236}">
                <a16:creationId xmlns:a16="http://schemas.microsoft.com/office/drawing/2014/main" id="{BDD3E0C5-6C63-4984-CD6B-406043D96870}"/>
              </a:ext>
            </a:extLst>
          </p:cNvPr>
          <p:cNvSpPr>
            <a:spLocks noChangeArrowheads="1"/>
          </p:cNvSpPr>
          <p:nvPr/>
        </p:nvSpPr>
        <p:spPr bwMode="auto">
          <a:xfrm>
            <a:off x="452845" y="1536174"/>
            <a:ext cx="6337408"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b="1" dirty="0">
                <a:latin typeface="Times New Roman" panose="02020603050405020304" pitchFamily="18" charset="0"/>
                <a:cs typeface="Times New Roman" panose="02020603050405020304" pitchFamily="18" charset="0"/>
              </a:rPr>
              <a:t>After Decryption</a:t>
            </a:r>
          </a:p>
          <a:p>
            <a:r>
              <a:rPr lang="en-US" sz="2400" dirty="0">
                <a:latin typeface="Times New Roman" panose="02020603050405020304" pitchFamily="18" charset="0"/>
                <a:cs typeface="Times New Roman" panose="02020603050405020304" pitchFamily="18" charset="0"/>
              </a:rPr>
              <a:t>After decryption, the ciphertext is successfully converted back into the original plaintext message using the correct password. This demonstrates that the system accurately retrieves and reconstructs the hidden data without any loss or modification. The result confirms the effectiveness of the encryption and decryption process in maintaining data integrity and reliability.</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rcRect/>
          <a:stretch/>
        </p:blipFill>
        <p:spPr>
          <a:xfrm>
            <a:off x="6762493" y="1552228"/>
            <a:ext cx="4950536" cy="3792921"/>
          </a:xfrm>
          <a:prstGeom prst="rect">
            <a:avLst/>
          </a:prstGeom>
        </p:spPr>
      </p:pic>
    </p:spTree>
    <p:extLst>
      <p:ext uri="{BB962C8B-B14F-4D97-AF65-F5344CB8AC3E}">
        <p14:creationId xmlns:p14="http://schemas.microsoft.com/office/powerpoint/2010/main" val="5126419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094354" y="546280"/>
            <a:ext cx="10173182" cy="1128009"/>
          </a:xfrm>
        </p:spPr>
        <p:txBody>
          <a:bodyPr/>
          <a:lstStyle/>
          <a:p>
            <a:pPr algn="ctr"/>
            <a:r>
              <a:rPr lang="en-US" b="1" dirty="0">
                <a:latin typeface="Times New Roman" panose="02020603050405020304" pitchFamily="18" charset="0"/>
                <a:cs typeface="Times New Roman" panose="02020603050405020304" pitchFamily="18" charset="0"/>
              </a:rPr>
              <a:t>CONCLUSION AND FUTURE SCOPE</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3FD0E8FE-5DFE-4983-8979-0A870C217CEF}" type="datetime1">
              <a:rPr lang="en-IN" smtClean="0">
                <a:latin typeface="Times New Roman" panose="02020603050405020304" pitchFamily="18" charset="0"/>
                <a:cs typeface="Times New Roman" panose="02020603050405020304" pitchFamily="18" charset="0"/>
              </a:rPr>
              <a:t>10-04-2026</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Batch No. 12  Department of Cyber Security</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30</a:t>
            </a:fld>
            <a:endParaRPr lang="en-US">
              <a:latin typeface="Times New Roman" panose="02020603050405020304" pitchFamily="18" charset="0"/>
              <a:cs typeface="Times New Roman" panose="02020603050405020304" pitchFamily="18" charset="0"/>
            </a:endParaRPr>
          </a:p>
        </p:txBody>
      </p:sp>
      <p:sp>
        <p:nvSpPr>
          <p:cNvPr id="2" name="Content Placeholder 1"/>
          <p:cNvSpPr>
            <a:spLocks noGrp="1" noChangeArrowheads="1"/>
          </p:cNvSpPr>
          <p:nvPr>
            <p:ph idx="1"/>
          </p:nvPr>
        </p:nvSpPr>
        <p:spPr bwMode="auto">
          <a:xfrm>
            <a:off x="578498" y="1594105"/>
            <a:ext cx="11327363"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sz="2400" dirty="0">
                <a:latin typeface="Times New Roman" panose="02020603050405020304" pitchFamily="18" charset="0"/>
                <a:cs typeface="Times New Roman" panose="02020603050405020304" pitchFamily="18" charset="0"/>
              </a:rPr>
              <a:t>The proposed Dual Layer Steganography system successfully combines AES encryption, SHA-256 authentication, and LSB/DCT techniques to provide secure and hidden data transmission. The system ensures confidentiality, integrity, and invisibility of data while maintaining good image quality and performance. It is efficient, user-friendly, and suitable for real-world secure communication applications</a:t>
            </a:r>
          </a:p>
          <a:p>
            <a:pPr marL="0" lvl="0" indent="0" eaLnBrk="0" fontAlgn="base" hangingPunct="0">
              <a:lnSpc>
                <a:spcPct val="100000"/>
              </a:lnSpc>
              <a:spcBef>
                <a:spcPct val="0"/>
              </a:spcBef>
              <a:spcAft>
                <a:spcPct val="0"/>
              </a:spcAft>
              <a:buNone/>
            </a:pPr>
            <a:endPar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None/>
            </a:pPr>
            <a:r>
              <a:rPr lang="en-US" sz="2400" dirty="0">
                <a:latin typeface="Times New Roman" panose="02020603050405020304" pitchFamily="18" charset="0"/>
                <a:cs typeface="Times New Roman" panose="02020603050405020304" pitchFamily="18" charset="0"/>
              </a:rPr>
              <a:t>The system can be further enhanced by supporting video and audio steganography to increase capacity and security. Advanced techniques like DWT and AI-based optimization can be integrated to improve robustness against attacks. Additionally, developing a mobile or web-based version and adding multi-factor authentication can make the system more scalable and practical for modern applications.</a:t>
            </a:r>
            <a:endPar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11037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30290"/>
            <a:ext cx="10173182" cy="1128009"/>
          </a:xfrm>
        </p:spPr>
        <p:txBody>
          <a:bodyPr/>
          <a:lstStyle/>
          <a:p>
            <a:pPr algn="ctr"/>
            <a:r>
              <a:rPr lang="en-US" b="1" dirty="0">
                <a:latin typeface="Times New Roman" panose="02020603050405020304" pitchFamily="18" charset="0"/>
                <a:cs typeface="Times New Roman" panose="02020603050405020304" pitchFamily="18" charset="0"/>
              </a:rPr>
              <a:t>REFERENCES</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86E41D8E-EFD7-4759-A878-662A88240A7D}" type="datetime1">
              <a:rPr lang="en-IN" smtClean="0">
                <a:latin typeface="Times New Roman" panose="02020603050405020304" pitchFamily="18" charset="0"/>
                <a:cs typeface="Times New Roman" panose="02020603050405020304" pitchFamily="18" charset="0"/>
              </a:rPr>
              <a:t>10-04-2026</a:t>
            </a:fld>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Batch No. 12  Department of Cyber Security</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31</a:t>
            </a:fld>
            <a:endParaRPr lang="en-US">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714CD185-8967-03FE-541B-CF18EC804DA5}"/>
              </a:ext>
            </a:extLst>
          </p:cNvPr>
          <p:cNvSpPr>
            <a:spLocks noChangeArrowheads="1"/>
          </p:cNvSpPr>
          <p:nvPr/>
        </p:nvSpPr>
        <p:spPr bwMode="auto">
          <a:xfrm>
            <a:off x="379428" y="1535244"/>
            <a:ext cx="11433144"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atinLnBrk="1"/>
            <a:r>
              <a:rPr lang="en-US" sz="2000" dirty="0">
                <a:latin typeface="Times New Roman" panose="02020603050405020304" pitchFamily="18" charset="0"/>
                <a:cs typeface="Times New Roman" panose="02020603050405020304" pitchFamily="18" charset="0"/>
              </a:rPr>
              <a:t>[1] NIST. "Specification for the Advanced Encryption Standard (AES)," FIPS PUB 197, 2001.</a:t>
            </a:r>
            <a:endParaRPr lang="en-IN" sz="2000" dirty="0">
              <a:latin typeface="Times New Roman" panose="02020603050405020304" pitchFamily="18" charset="0"/>
              <a:cs typeface="Times New Roman" panose="02020603050405020304" pitchFamily="18" charset="0"/>
            </a:endParaRPr>
          </a:p>
          <a:p>
            <a:pPr latinLnBrk="1"/>
            <a:r>
              <a:rPr lang="en-US" sz="2000" dirty="0">
                <a:latin typeface="Times New Roman" panose="02020603050405020304" pitchFamily="18" charset="0"/>
                <a:cs typeface="Times New Roman" panose="02020603050405020304" pitchFamily="18" charset="0"/>
              </a:rPr>
              <a:t>[2] National Institute of Standards and Technology (NIST), “Specification for the Advanced Encryption Standard (AES),” FIPS PUB 197, 2001.</a:t>
            </a:r>
            <a:endParaRPr lang="en-IN" sz="2000" dirty="0">
              <a:latin typeface="Times New Roman" panose="02020603050405020304" pitchFamily="18" charset="0"/>
              <a:cs typeface="Times New Roman" panose="02020603050405020304" pitchFamily="18" charset="0"/>
            </a:endParaRPr>
          </a:p>
          <a:p>
            <a:pPr latinLnBrk="1"/>
            <a:r>
              <a:rPr lang="en-US" sz="2000" dirty="0">
                <a:latin typeface="Times New Roman" panose="02020603050405020304" pitchFamily="18" charset="0"/>
                <a:cs typeface="Times New Roman" panose="02020603050405020304" pitchFamily="18" charset="0"/>
              </a:rPr>
              <a:t>[3] N. Provos and P. Honeyman, “Hide and Seek: An Introduction to Steganography,” </a:t>
            </a:r>
            <a:r>
              <a:rPr lang="en-US" sz="2000" i="1" dirty="0">
                <a:latin typeface="Times New Roman" panose="02020603050405020304" pitchFamily="18" charset="0"/>
                <a:cs typeface="Times New Roman" panose="02020603050405020304" pitchFamily="18" charset="0"/>
              </a:rPr>
              <a:t>IEEE Security &amp; Privacy</a:t>
            </a:r>
            <a:r>
              <a:rPr lang="en-US" sz="2000" dirty="0">
                <a:latin typeface="Times New Roman" panose="02020603050405020304" pitchFamily="18" charset="0"/>
                <a:cs typeface="Times New Roman" panose="02020603050405020304" pitchFamily="18" charset="0"/>
              </a:rPr>
              <a:t>, vol. 1, no. 3, pp. 32–44, May–June 2003.</a:t>
            </a:r>
            <a:endParaRPr lang="en-IN" sz="2000" dirty="0">
              <a:latin typeface="Times New Roman" panose="02020603050405020304" pitchFamily="18" charset="0"/>
              <a:cs typeface="Times New Roman" panose="02020603050405020304" pitchFamily="18" charset="0"/>
            </a:endParaRPr>
          </a:p>
          <a:p>
            <a:pPr latinLnBrk="1"/>
            <a:r>
              <a:rPr lang="en-US" sz="2000" dirty="0">
                <a:latin typeface="Times New Roman" panose="02020603050405020304" pitchFamily="18" charset="0"/>
                <a:cs typeface="Times New Roman" panose="02020603050405020304" pitchFamily="18" charset="0"/>
              </a:rPr>
              <a:t>[4] W. Stallings, </a:t>
            </a:r>
            <a:r>
              <a:rPr lang="en-US" sz="2000" i="1" dirty="0">
                <a:latin typeface="Times New Roman" panose="02020603050405020304" pitchFamily="18" charset="0"/>
                <a:cs typeface="Times New Roman" panose="02020603050405020304" pitchFamily="18" charset="0"/>
              </a:rPr>
              <a:t>Cryptography and Network Security: Principles and Practice</a:t>
            </a:r>
            <a:r>
              <a:rPr lang="en-US" sz="2000" dirty="0">
                <a:latin typeface="Times New Roman" panose="02020603050405020304" pitchFamily="18" charset="0"/>
                <a:cs typeface="Times New Roman" panose="02020603050405020304" pitchFamily="18" charset="0"/>
              </a:rPr>
              <a:t>, 7th ed., Pearson, 2017.</a:t>
            </a:r>
            <a:endParaRPr lang="en-IN" sz="2000" dirty="0">
              <a:latin typeface="Times New Roman" panose="02020603050405020304" pitchFamily="18" charset="0"/>
              <a:cs typeface="Times New Roman" panose="02020603050405020304" pitchFamily="18" charset="0"/>
            </a:endParaRPr>
          </a:p>
          <a:p>
            <a:pPr latinLnBrk="1"/>
            <a:r>
              <a:rPr lang="en-US" sz="2000" dirty="0">
                <a:latin typeface="Times New Roman" panose="02020603050405020304" pitchFamily="18" charset="0"/>
                <a:cs typeface="Times New Roman" panose="02020603050405020304" pitchFamily="18" charset="0"/>
              </a:rPr>
              <a:t>[5] J. Zhang, M. </a:t>
            </a:r>
            <a:r>
              <a:rPr lang="en-US" sz="2000" dirty="0" err="1">
                <a:latin typeface="Times New Roman" panose="02020603050405020304" pitchFamily="18" charset="0"/>
                <a:cs typeface="Times New Roman" panose="02020603050405020304" pitchFamily="18" charset="0"/>
              </a:rPr>
              <a:t>Zulkernine</a:t>
            </a:r>
            <a:r>
              <a:rPr lang="en-US" sz="2000" dirty="0">
                <a:latin typeface="Times New Roman" panose="02020603050405020304" pitchFamily="18" charset="0"/>
                <a:cs typeface="Times New Roman" panose="02020603050405020304" pitchFamily="18" charset="0"/>
              </a:rPr>
              <a:t>, and A. Haque, “Random-Forest-Based Network Intrusion Detection Systems,” </a:t>
            </a:r>
            <a:r>
              <a:rPr lang="en-US" sz="2000" i="1" dirty="0">
                <a:latin typeface="Times New Roman" panose="02020603050405020304" pitchFamily="18" charset="0"/>
                <a:cs typeface="Times New Roman" panose="02020603050405020304" pitchFamily="18" charset="0"/>
              </a:rPr>
              <a:t>IEEE Transactions on Systems, Man, and Cybernetics</a:t>
            </a:r>
            <a:r>
              <a:rPr lang="en-US" sz="2000" dirty="0">
                <a:latin typeface="Times New Roman" panose="02020603050405020304" pitchFamily="18" charset="0"/>
                <a:cs typeface="Times New Roman" panose="02020603050405020304" pitchFamily="18" charset="0"/>
              </a:rPr>
              <a:t>, vol. 38, no. 5, pp. 649–659, 2008.</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[6] A. </a:t>
            </a:r>
            <a:r>
              <a:rPr lang="en-IN" sz="2000" dirty="0" err="1">
                <a:latin typeface="Times New Roman" panose="02020603050405020304" pitchFamily="18" charset="0"/>
                <a:cs typeface="Times New Roman" panose="02020603050405020304" pitchFamily="18" charset="0"/>
              </a:rPr>
              <a:t>Patcha</a:t>
            </a:r>
            <a:r>
              <a:rPr lang="en-IN" sz="2000" dirty="0">
                <a:latin typeface="Times New Roman" panose="02020603050405020304" pitchFamily="18" charset="0"/>
                <a:cs typeface="Times New Roman" panose="02020603050405020304" pitchFamily="18" charset="0"/>
              </a:rPr>
              <a:t> and J. M. Park, “An Overview of Anomaly Detection Techniques: Existing Solutions and Latest Technological Trends,” </a:t>
            </a:r>
            <a:r>
              <a:rPr lang="en-IN" sz="2000" i="1" dirty="0">
                <a:latin typeface="Times New Roman" panose="02020603050405020304" pitchFamily="18" charset="0"/>
                <a:cs typeface="Times New Roman" panose="02020603050405020304" pitchFamily="18" charset="0"/>
              </a:rPr>
              <a:t>Computer Networks</a:t>
            </a:r>
            <a:r>
              <a:rPr lang="en-IN" sz="2000" dirty="0">
                <a:latin typeface="Times New Roman" panose="02020603050405020304" pitchFamily="18" charset="0"/>
                <a:cs typeface="Times New Roman" panose="02020603050405020304" pitchFamily="18" charset="0"/>
              </a:rPr>
              <a:t>, vol. 51, no. 12, pp. 3448–3470, 2007.</a:t>
            </a:r>
          </a:p>
        </p:txBody>
      </p:sp>
    </p:spTree>
    <p:extLst>
      <p:ext uri="{BB962C8B-B14F-4D97-AF65-F5344CB8AC3E}">
        <p14:creationId xmlns:p14="http://schemas.microsoft.com/office/powerpoint/2010/main" val="21534945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009409" y="549062"/>
            <a:ext cx="10173182" cy="771668"/>
          </a:xfrm>
        </p:spPr>
        <p:txBody>
          <a:bodyPr/>
          <a:lstStyle/>
          <a:p>
            <a:pPr algn="ctr"/>
            <a:r>
              <a:rPr lang="en-US" b="1" dirty="0">
                <a:latin typeface="Times New Roman" panose="02020603050405020304" pitchFamily="18" charset="0"/>
                <a:cs typeface="Times New Roman" panose="02020603050405020304" pitchFamily="18" charset="0"/>
              </a:rPr>
              <a:t>REFERENCES</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300A38F2-6EE9-4555-83CF-4F6B2D92F6FF}" type="datetime1">
              <a:rPr lang="en-IN" smtClean="0">
                <a:latin typeface="Times New Roman" panose="02020603050405020304" pitchFamily="18" charset="0"/>
                <a:cs typeface="Times New Roman" panose="02020603050405020304" pitchFamily="18" charset="0"/>
              </a:rPr>
              <a:t>10-04-2026</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Batch No. 12  Department of Cyber Security</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32</a:t>
            </a:fld>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C0B1E41-4D44-C202-C347-9D68E65559F7}"/>
              </a:ext>
            </a:extLst>
          </p:cNvPr>
          <p:cNvSpPr>
            <a:spLocks noGrp="1" noChangeArrowheads="1"/>
          </p:cNvSpPr>
          <p:nvPr>
            <p:ph idx="1"/>
          </p:nvPr>
        </p:nvSpPr>
        <p:spPr bwMode="auto">
          <a:xfrm>
            <a:off x="838200" y="1288044"/>
            <a:ext cx="10560287" cy="4926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2400" dirty="0">
                <a:latin typeface="Times New Roman" panose="02020603050405020304" pitchFamily="18" charset="0"/>
                <a:cs typeface="Times New Roman" panose="02020603050405020304" pitchFamily="18" charset="0"/>
              </a:rPr>
              <a:t>[7] G. Creech and J. Hu, “A Semantic Approach to Host-Based Intrusion Detection Systems Using Contiguous and </a:t>
            </a:r>
            <a:r>
              <a:rPr lang="en-IN" sz="2400" dirty="0" err="1">
                <a:latin typeface="Times New Roman" panose="02020603050405020304" pitchFamily="18" charset="0"/>
                <a:cs typeface="Times New Roman" panose="02020603050405020304" pitchFamily="18" charset="0"/>
              </a:rPr>
              <a:t>Discontiguous</a:t>
            </a:r>
            <a:r>
              <a:rPr lang="en-IN" sz="2400" dirty="0">
                <a:latin typeface="Times New Roman" panose="02020603050405020304" pitchFamily="18" charset="0"/>
                <a:cs typeface="Times New Roman" panose="02020603050405020304" pitchFamily="18" charset="0"/>
              </a:rPr>
              <a:t> System Call Patterns,” </a:t>
            </a:r>
            <a:r>
              <a:rPr lang="en-IN" sz="2400" i="1" dirty="0">
                <a:latin typeface="Times New Roman" panose="02020603050405020304" pitchFamily="18" charset="0"/>
                <a:cs typeface="Times New Roman" panose="02020603050405020304" pitchFamily="18" charset="0"/>
              </a:rPr>
              <a:t>IEEE Transactions on Computers</a:t>
            </a:r>
            <a:r>
              <a:rPr lang="en-IN" sz="2400" dirty="0">
                <a:latin typeface="Times New Roman" panose="02020603050405020304" pitchFamily="18" charset="0"/>
                <a:cs typeface="Times New Roman" panose="02020603050405020304" pitchFamily="18" charset="0"/>
              </a:rPr>
              <a:t>, vol. 63, no. 4, pp. 807–819, 2014.</a:t>
            </a:r>
          </a:p>
          <a:p>
            <a:r>
              <a:rPr lang="en-IN" sz="2400" dirty="0">
                <a:latin typeface="Times New Roman" panose="02020603050405020304" pitchFamily="18" charset="0"/>
                <a:cs typeface="Times New Roman" panose="02020603050405020304" pitchFamily="18" charset="0"/>
              </a:rPr>
              <a:t>[8] N. Moustafa and J. Slay, “UNSW-NB15: A Comprehensive Data Set for Network Intrusion Detection Systems,” in </a:t>
            </a:r>
            <a:r>
              <a:rPr lang="en-IN" sz="2400" i="1" dirty="0">
                <a:latin typeface="Times New Roman" panose="02020603050405020304" pitchFamily="18" charset="0"/>
                <a:cs typeface="Times New Roman" panose="02020603050405020304" pitchFamily="18" charset="0"/>
              </a:rPr>
              <a:t>Proc. </a:t>
            </a:r>
            <a:r>
              <a:rPr lang="en-IN" sz="2400" i="1" dirty="0" err="1">
                <a:latin typeface="Times New Roman" panose="02020603050405020304" pitchFamily="18" charset="0"/>
                <a:cs typeface="Times New Roman" panose="02020603050405020304" pitchFamily="18" charset="0"/>
              </a:rPr>
              <a:t>MilCIS</a:t>
            </a:r>
            <a:r>
              <a:rPr lang="en-IN" sz="2400" dirty="0">
                <a:latin typeface="Times New Roman" panose="02020603050405020304" pitchFamily="18" charset="0"/>
                <a:cs typeface="Times New Roman" panose="02020603050405020304" pitchFamily="18" charset="0"/>
              </a:rPr>
              <a:t>, 2015, pp. 1–6.</a:t>
            </a:r>
          </a:p>
          <a:p>
            <a:r>
              <a:rPr lang="en-IN" sz="2400" dirty="0">
                <a:latin typeface="Times New Roman" panose="02020603050405020304" pitchFamily="18" charset="0"/>
                <a:cs typeface="Times New Roman" panose="02020603050405020304" pitchFamily="18" charset="0"/>
              </a:rPr>
              <a:t>[9] S. Dua and X. Du, </a:t>
            </a:r>
            <a:r>
              <a:rPr lang="en-IN" sz="2400" i="1" dirty="0">
                <a:latin typeface="Times New Roman" panose="02020603050405020304" pitchFamily="18" charset="0"/>
                <a:cs typeface="Times New Roman" panose="02020603050405020304" pitchFamily="18" charset="0"/>
              </a:rPr>
              <a:t>Data Mining and Machine Learning in Cybersecurity</a:t>
            </a:r>
            <a:r>
              <a:rPr lang="en-IN" sz="2400" dirty="0">
                <a:latin typeface="Times New Roman" panose="02020603050405020304" pitchFamily="18" charset="0"/>
                <a:cs typeface="Times New Roman" panose="02020603050405020304" pitchFamily="18" charset="0"/>
              </a:rPr>
              <a:t>. Boca Raton, FL, USA: CRC Press, 2016.</a:t>
            </a:r>
          </a:p>
          <a:p>
            <a:r>
              <a:rPr lang="en-IN" sz="2400" dirty="0">
                <a:latin typeface="Times New Roman" panose="02020603050405020304" pitchFamily="18" charset="0"/>
                <a:cs typeface="Times New Roman" panose="02020603050405020304" pitchFamily="18" charset="0"/>
              </a:rPr>
              <a:t>[10] M. A. </a:t>
            </a:r>
            <a:r>
              <a:rPr lang="en-IN" sz="2400" dirty="0" err="1">
                <a:latin typeface="Times New Roman" panose="02020603050405020304" pitchFamily="18" charset="0"/>
                <a:cs typeface="Times New Roman" panose="02020603050405020304" pitchFamily="18" charset="0"/>
              </a:rPr>
              <a:t>Ambusaidi</a:t>
            </a:r>
            <a:r>
              <a:rPr lang="en-IN" sz="2400" dirty="0">
                <a:latin typeface="Times New Roman" panose="02020603050405020304" pitchFamily="18" charset="0"/>
                <a:cs typeface="Times New Roman" panose="02020603050405020304" pitchFamily="18" charset="0"/>
              </a:rPr>
              <a:t> et al., “Building an Intrusion Detection System Using a Filter-Based Feature Selection Algorithm,” </a:t>
            </a:r>
            <a:r>
              <a:rPr lang="en-IN" sz="2400" i="1" dirty="0">
                <a:latin typeface="Times New Roman" panose="02020603050405020304" pitchFamily="18" charset="0"/>
                <a:cs typeface="Times New Roman" panose="02020603050405020304" pitchFamily="18" charset="0"/>
              </a:rPr>
              <a:t>IEEE Transactions on Computers</a:t>
            </a:r>
            <a:r>
              <a:rPr lang="en-IN" sz="2400" dirty="0">
                <a:latin typeface="Times New Roman" panose="02020603050405020304" pitchFamily="18" charset="0"/>
                <a:cs typeface="Times New Roman" panose="02020603050405020304" pitchFamily="18" charset="0"/>
              </a:rPr>
              <a:t>, vol. 65, no. 10, pp. 2986–2998, 2016.</a:t>
            </a:r>
          </a:p>
          <a:p>
            <a:r>
              <a:rPr lang="en-IN" sz="2400" dirty="0">
                <a:latin typeface="Times New Roman" panose="02020603050405020304" pitchFamily="18" charset="0"/>
                <a:cs typeface="Times New Roman" panose="02020603050405020304" pitchFamily="18" charset="0"/>
              </a:rPr>
              <a:t>[11] H. Hindy et al., “A Taxonomy of Network Threats and the Effect of Current Datasets on Intrusion Detection Systems,” </a:t>
            </a:r>
            <a:r>
              <a:rPr lang="en-IN" sz="2400" i="1" dirty="0">
                <a:latin typeface="Times New Roman" panose="02020603050405020304" pitchFamily="18" charset="0"/>
                <a:cs typeface="Times New Roman" panose="02020603050405020304" pitchFamily="18" charset="0"/>
              </a:rPr>
              <a:t>IEEE Access</a:t>
            </a:r>
            <a:r>
              <a:rPr lang="en-IN" sz="2400" dirty="0">
                <a:latin typeface="Times New Roman" panose="02020603050405020304" pitchFamily="18" charset="0"/>
                <a:cs typeface="Times New Roman" panose="02020603050405020304" pitchFamily="18" charset="0"/>
              </a:rPr>
              <a:t>, vol. 8, pp. 104650–104675, 2020.</a:t>
            </a:r>
          </a:p>
        </p:txBody>
      </p:sp>
    </p:spTree>
    <p:extLst>
      <p:ext uri="{BB962C8B-B14F-4D97-AF65-F5344CB8AC3E}">
        <p14:creationId xmlns:p14="http://schemas.microsoft.com/office/powerpoint/2010/main" val="7440594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D35B6-E318-D499-FC15-88DA04BA1BA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EDA30E2-C26B-04CC-1033-F58C1FE0678D}"/>
              </a:ext>
            </a:extLst>
          </p:cNvPr>
          <p:cNvSpPr>
            <a:spLocks noGrp="1"/>
          </p:cNvSpPr>
          <p:nvPr>
            <p:ph type="title"/>
          </p:nvPr>
        </p:nvSpPr>
        <p:spPr>
          <a:xfrm>
            <a:off x="1180618" y="365126"/>
            <a:ext cx="10173182" cy="771668"/>
          </a:xfrm>
        </p:spPr>
        <p:txBody>
          <a:bodyPr/>
          <a:lstStyle/>
          <a:p>
            <a:pPr algn="ctr"/>
            <a:r>
              <a:rPr lang="en-US" b="1" dirty="0">
                <a:latin typeface="Times New Roman" panose="02020603050405020304" pitchFamily="18" charset="0"/>
                <a:cs typeface="Times New Roman" panose="02020603050405020304" pitchFamily="18" charset="0"/>
              </a:rPr>
              <a:t>REFERENCES</a:t>
            </a:r>
          </a:p>
        </p:txBody>
      </p:sp>
      <p:sp>
        <p:nvSpPr>
          <p:cNvPr id="5" name="Date Placeholder 4">
            <a:extLst>
              <a:ext uri="{FF2B5EF4-FFF2-40B4-BE49-F238E27FC236}">
                <a16:creationId xmlns:a16="http://schemas.microsoft.com/office/drawing/2014/main" id="{5C843387-FD89-3A7B-7294-91843F9E99D2}"/>
              </a:ext>
            </a:extLst>
          </p:cNvPr>
          <p:cNvSpPr>
            <a:spLocks noGrp="1"/>
          </p:cNvSpPr>
          <p:nvPr>
            <p:ph type="dt" sz="half" idx="10"/>
          </p:nvPr>
        </p:nvSpPr>
        <p:spPr/>
        <p:txBody>
          <a:bodyPr/>
          <a:lstStyle/>
          <a:p>
            <a:fld id="{2CD6BB09-BFED-43EC-8BC6-073D02ED52CF}" type="datetime1">
              <a:rPr lang="en-IN" smtClean="0">
                <a:latin typeface="Times New Roman" panose="02020603050405020304" pitchFamily="18" charset="0"/>
                <a:cs typeface="Times New Roman" panose="02020603050405020304" pitchFamily="18" charset="0"/>
              </a:rPr>
              <a:t>10-04-2026</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E57ED3F7-BA2A-F5A0-6C92-83875635FE68}"/>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Batch No. 12  Department of Cyber Security</a:t>
            </a:r>
          </a:p>
        </p:txBody>
      </p:sp>
      <p:sp>
        <p:nvSpPr>
          <p:cNvPr id="7" name="Slide Number Placeholder 6">
            <a:extLst>
              <a:ext uri="{FF2B5EF4-FFF2-40B4-BE49-F238E27FC236}">
                <a16:creationId xmlns:a16="http://schemas.microsoft.com/office/drawing/2014/main" id="{C802BA09-8E21-4216-7F94-C6A078FC4DB0}"/>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33</a:t>
            </a:fld>
            <a:endParaRPr lang="en-US">
              <a:latin typeface="Times New Roman" panose="02020603050405020304" pitchFamily="18" charset="0"/>
              <a:cs typeface="Times New Roman" panose="02020603050405020304" pitchFamily="18" charset="0"/>
            </a:endParaRPr>
          </a:p>
        </p:txBody>
      </p:sp>
      <p:sp>
        <p:nvSpPr>
          <p:cNvPr id="11" name="Rectangle 4">
            <a:extLst>
              <a:ext uri="{FF2B5EF4-FFF2-40B4-BE49-F238E27FC236}">
                <a16:creationId xmlns:a16="http://schemas.microsoft.com/office/drawing/2014/main" id="{93F7719D-4FB7-702B-1400-2F62E44A613F}"/>
              </a:ext>
            </a:extLst>
          </p:cNvPr>
          <p:cNvSpPr>
            <a:spLocks noChangeArrowheads="1"/>
          </p:cNvSpPr>
          <p:nvPr/>
        </p:nvSpPr>
        <p:spPr bwMode="auto">
          <a:xfrm>
            <a:off x="1374080" y="1598459"/>
            <a:ext cx="9786257"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atinLnBrk="1"/>
            <a:r>
              <a:rPr lang="en-US" sz="2400" dirty="0">
                <a:latin typeface="Times New Roman" panose="02020603050405020304" pitchFamily="18" charset="0"/>
                <a:cs typeface="Times New Roman" panose="02020603050405020304" pitchFamily="18" charset="0"/>
              </a:rPr>
              <a:t>[12] N. Johnson, Z. Duric, and S. </a:t>
            </a:r>
            <a:r>
              <a:rPr lang="en-US" sz="2400" dirty="0" err="1">
                <a:latin typeface="Times New Roman" panose="02020603050405020304" pitchFamily="18" charset="0"/>
                <a:cs typeface="Times New Roman" panose="02020603050405020304" pitchFamily="18" charset="0"/>
              </a:rPr>
              <a:t>Jajodia</a:t>
            </a:r>
            <a:r>
              <a:rPr lang="en-US" sz="2400"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Information Hiding: Steganography and Watermarking—Attacks and Countermeasures</a:t>
            </a:r>
            <a:r>
              <a:rPr lang="en-US" sz="2400" dirty="0">
                <a:latin typeface="Times New Roman" panose="02020603050405020304" pitchFamily="18" charset="0"/>
                <a:cs typeface="Times New Roman" panose="02020603050405020304" pitchFamily="18" charset="0"/>
              </a:rPr>
              <a:t>, Springer, 2000.</a:t>
            </a:r>
            <a:endParaRPr lang="en-IN" sz="2400" dirty="0">
              <a:latin typeface="Times New Roman" panose="02020603050405020304" pitchFamily="18" charset="0"/>
              <a:cs typeface="Times New Roman" panose="02020603050405020304" pitchFamily="18" charset="0"/>
            </a:endParaRPr>
          </a:p>
          <a:p>
            <a:pPr latinLnBrk="1"/>
            <a:r>
              <a:rPr lang="en-US" sz="2400" dirty="0">
                <a:latin typeface="Times New Roman" panose="02020603050405020304" pitchFamily="18" charset="0"/>
                <a:cs typeface="Times New Roman" panose="02020603050405020304" pitchFamily="18" charset="0"/>
              </a:rPr>
              <a:t>[13] B. G. Chandran and P. V. Nair, “A hybrid steganographic technique using discrete cosine transform and least significant bit insertion,” </a:t>
            </a:r>
            <a:r>
              <a:rPr lang="en-US" sz="2400" i="1" dirty="0">
                <a:latin typeface="Times New Roman" panose="02020603050405020304" pitchFamily="18" charset="0"/>
                <a:cs typeface="Times New Roman" panose="02020603050405020304" pitchFamily="18" charset="0"/>
              </a:rPr>
              <a:t>IJCSNS</a:t>
            </a:r>
            <a:r>
              <a:rPr lang="en-US" sz="2400" dirty="0">
                <a:latin typeface="Times New Roman" panose="02020603050405020304" pitchFamily="18" charset="0"/>
                <a:cs typeface="Times New Roman" panose="02020603050405020304" pitchFamily="18" charset="0"/>
              </a:rPr>
              <a:t>, vol. 8, no. 7,pp. 266–271, 2008.</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[14] S. Umer et al., “Intrusion Detection Using Machine Learning Techniques: A Review,” </a:t>
            </a:r>
            <a:r>
              <a:rPr lang="en-IN" sz="2400" i="1" dirty="0">
                <a:latin typeface="Times New Roman" panose="02020603050405020304" pitchFamily="18" charset="0"/>
                <a:cs typeface="Times New Roman" panose="02020603050405020304" pitchFamily="18" charset="0"/>
              </a:rPr>
              <a:t>Journal of Network and Computer Applications</a:t>
            </a:r>
            <a:r>
              <a:rPr lang="en-IN" sz="2400" dirty="0">
                <a:latin typeface="Times New Roman" panose="02020603050405020304" pitchFamily="18" charset="0"/>
                <a:cs typeface="Times New Roman" panose="02020603050405020304" pitchFamily="18" charset="0"/>
              </a:rPr>
              <a:t>, vol. 42, pp. 1–17, 2017.</a:t>
            </a:r>
          </a:p>
          <a:p>
            <a:r>
              <a:rPr lang="en-IN" sz="2400" dirty="0">
                <a:latin typeface="Times New Roman" panose="02020603050405020304" pitchFamily="18" charset="0"/>
                <a:cs typeface="Times New Roman" panose="02020603050405020304" pitchFamily="18" charset="0"/>
              </a:rPr>
              <a:t>[15] K. Scarfone and P. Mell, “Guide to Intrusion Detection and Prevention Systems (IDPS),” </a:t>
            </a:r>
            <a:r>
              <a:rPr lang="en-IN" sz="2400" i="1" dirty="0">
                <a:latin typeface="Times New Roman" panose="02020603050405020304" pitchFamily="18" charset="0"/>
                <a:cs typeface="Times New Roman" panose="02020603050405020304" pitchFamily="18" charset="0"/>
              </a:rPr>
              <a:t>NIST Special Publication</a:t>
            </a:r>
            <a:r>
              <a:rPr lang="en-IN" sz="2400" dirty="0">
                <a:latin typeface="Times New Roman" panose="02020603050405020304" pitchFamily="18" charset="0"/>
                <a:cs typeface="Times New Roman" panose="02020603050405020304" pitchFamily="18" charset="0"/>
              </a:rPr>
              <a:t>, 2007.</a:t>
            </a:r>
          </a:p>
        </p:txBody>
      </p:sp>
    </p:spTree>
    <p:extLst>
      <p:ext uri="{BB962C8B-B14F-4D97-AF65-F5344CB8AC3E}">
        <p14:creationId xmlns:p14="http://schemas.microsoft.com/office/powerpoint/2010/main" val="20595942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518229"/>
            <a:ext cx="10173182" cy="1128009"/>
          </a:xfrm>
        </p:spPr>
        <p:txBody>
          <a:bodyPr/>
          <a:lstStyle/>
          <a:p>
            <a:pPr algn="ctr"/>
            <a:r>
              <a:rPr lang="en-IN" b="1" dirty="0">
                <a:latin typeface="Times New Roman" panose="02020603050405020304" pitchFamily="18" charset="0"/>
                <a:cs typeface="Times New Roman" panose="02020603050405020304" pitchFamily="18" charset="0"/>
              </a:rPr>
              <a:t>QUESTIONS AND ANSWERS</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a:bodyPr>
          <a:lstStyle/>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sz="4000" dirty="0">
                <a:latin typeface="Times New Roman" panose="02020603050405020304" pitchFamily="18" charset="0"/>
                <a:cs typeface="Times New Roman" panose="02020603050405020304" pitchFamily="18" charset="0"/>
              </a:rPr>
              <a:t>      Please ask questions if there are any doubts</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4C05554E-57FC-45C5-AC44-A83A514E15F1}" type="datetime1">
              <a:rPr lang="en-IN" smtClean="0">
                <a:latin typeface="Times New Roman" panose="02020603050405020304" pitchFamily="18" charset="0"/>
                <a:cs typeface="Times New Roman" panose="02020603050405020304" pitchFamily="18" charset="0"/>
              </a:rPr>
              <a:t>10-04-2026</a:t>
            </a:fld>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Batch No. 12  Department of Cyber Security</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34</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49772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95B45D1D-7855-42AB-B2E2-3535D372F812}" type="datetime1">
              <a:rPr lang="en-IN" smtClean="0">
                <a:latin typeface="Times New Roman" panose="02020603050405020304" pitchFamily="18" charset="0"/>
                <a:cs typeface="Times New Roman" panose="02020603050405020304" pitchFamily="18" charset="0"/>
              </a:rPr>
              <a:t>10-04-2026</a:t>
            </a:fld>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Batch No. 12  Department of Cyber Security</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35</a:t>
            </a:fld>
            <a:endParaRPr lang="en-US">
              <a:latin typeface="Times New Roman" panose="02020603050405020304" pitchFamily="18" charset="0"/>
              <a:cs typeface="Times New Roman" panose="02020603050405020304" pitchFamily="18" charset="0"/>
            </a:endParaRPr>
          </a:p>
        </p:txBody>
      </p:sp>
      <p:sp>
        <p:nvSpPr>
          <p:cNvPr id="3" name="TextBox 2"/>
          <p:cNvSpPr txBox="1"/>
          <p:nvPr/>
        </p:nvSpPr>
        <p:spPr>
          <a:xfrm>
            <a:off x="665673" y="67269"/>
            <a:ext cx="9985310" cy="3785652"/>
          </a:xfrm>
          <a:prstGeom prst="rect">
            <a:avLst/>
          </a:prstGeom>
          <a:noFill/>
        </p:spPr>
        <p:txBody>
          <a:bodyPr wrap="square" rtlCol="0">
            <a:spAutoFit/>
          </a:bodyPr>
          <a:lstStyle/>
          <a:p>
            <a:endParaRPr lang="en-IN" sz="8000" dirty="0">
              <a:latin typeface="Times New Roman" panose="02020603050405020304" pitchFamily="18" charset="0"/>
              <a:cs typeface="Times New Roman" panose="02020603050405020304" pitchFamily="18" charset="0"/>
            </a:endParaRPr>
          </a:p>
          <a:p>
            <a:r>
              <a:rPr lang="en-IN" sz="8000" dirty="0">
                <a:latin typeface="Times New Roman" panose="02020603050405020304" pitchFamily="18" charset="0"/>
                <a:cs typeface="Times New Roman" panose="02020603050405020304" pitchFamily="18" charset="0"/>
              </a:rPr>
              <a:t>       </a:t>
            </a:r>
          </a:p>
          <a:p>
            <a:r>
              <a:rPr lang="en-IN" sz="8000" dirty="0">
                <a:latin typeface="Times New Roman" panose="02020603050405020304" pitchFamily="18" charset="0"/>
                <a:cs typeface="Times New Roman" panose="02020603050405020304" pitchFamily="18" charset="0"/>
              </a:rPr>
              <a:t>         THANK YOU</a:t>
            </a:r>
          </a:p>
        </p:txBody>
      </p:sp>
    </p:spTree>
    <p:extLst>
      <p:ext uri="{BB962C8B-B14F-4D97-AF65-F5344CB8AC3E}">
        <p14:creationId xmlns:p14="http://schemas.microsoft.com/office/powerpoint/2010/main" val="1687917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3213</TotalTime>
  <Words>3633</Words>
  <Application>Microsoft Office PowerPoint</Application>
  <PresentationFormat>Widescreen</PresentationFormat>
  <Paragraphs>361</Paragraphs>
  <Slides>35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Arial</vt:lpstr>
      <vt:lpstr>Arial Rounded MT Bold</vt:lpstr>
      <vt:lpstr>Calibri</vt:lpstr>
      <vt:lpstr>Calibri Light</vt:lpstr>
      <vt:lpstr>Times New Roman</vt:lpstr>
      <vt:lpstr>Wingdings</vt:lpstr>
      <vt:lpstr>Office Theme</vt:lpstr>
      <vt:lpstr>PowerPoint Presentation</vt:lpstr>
      <vt:lpstr>OUTLINE</vt:lpstr>
      <vt:lpstr>ABSTRACT</vt:lpstr>
      <vt:lpstr>INTRODUCTION</vt:lpstr>
      <vt:lpstr>PowerPoint Presentation</vt:lpstr>
      <vt:lpstr>LITERATURE SURVEY</vt:lpstr>
      <vt:lpstr>LITERATURE SURVEY</vt:lpstr>
      <vt:lpstr>LITERATURE SURVEY</vt:lpstr>
      <vt:lpstr>RESEARCH GAPS</vt:lpstr>
      <vt:lpstr>RESEARCH GAPS</vt:lpstr>
      <vt:lpstr>RESEARCH GAPS</vt:lpstr>
      <vt:lpstr>PROBLEM STATEMENT</vt:lpstr>
      <vt:lpstr>OBJECTIVES</vt:lpstr>
      <vt:lpstr>BLOCK DIAGRAM AND FLOW CHART</vt:lpstr>
      <vt:lpstr>METHODOLOGY</vt:lpstr>
      <vt:lpstr>METHODOLOGY</vt:lpstr>
      <vt:lpstr>METHODOLOGY</vt:lpstr>
      <vt:lpstr>METHODOLOGY</vt:lpstr>
      <vt:lpstr>METHODOLOGY</vt:lpstr>
      <vt:lpstr>METHODOLOGY</vt:lpstr>
      <vt:lpstr>IMPLEMENTATION</vt:lpstr>
      <vt:lpstr>                      IMPLEMENTATION   </vt:lpstr>
      <vt:lpstr>IMPLEMENTATION</vt:lpstr>
      <vt:lpstr>                    IMPLEMENTATION</vt:lpstr>
      <vt:lpstr>IMPLEMENTATION</vt:lpstr>
      <vt:lpstr>                   IMPLEMENTATION</vt:lpstr>
      <vt:lpstr>RESULTS &amp; ANALYSIS</vt:lpstr>
      <vt:lpstr>RESULTS &amp; ANALYSIS </vt:lpstr>
      <vt:lpstr>RESULTS &amp; ANALYSIS</vt:lpstr>
      <vt:lpstr>CONCLUSION AND FUTURE SCOPE</vt:lpstr>
      <vt:lpstr>REFERENCES</vt:lpstr>
      <vt:lpstr>REFERENCES</vt:lpstr>
      <vt:lpstr>REFERENCES</vt:lpstr>
      <vt:lpstr>QUESTIONS AND ANSWERS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INSTRUCTIONS</dc:title>
  <dc:creator>bogyam jagadeesh</dc:creator>
  <cp:lastModifiedBy>AAMUKTHA JAMPANA</cp:lastModifiedBy>
  <cp:revision>140</cp:revision>
  <dcterms:created xsi:type="dcterms:W3CDTF">2023-12-22T11:34:02Z</dcterms:created>
  <dcterms:modified xsi:type="dcterms:W3CDTF">2026-04-09T23:57:16Z</dcterms:modified>
</cp:coreProperties>
</file>